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notesMasterIdLst>
    <p:notesMasterId r:id="rId9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Introduction" id="{b9035e52-2d93-aefd-b2e5-f78bcea5fde1}">
          <p14:sldIdLst>
            <p14:sldId id="256"/>
          </p14:sldIdLst>
        </p14:section>
        <p14:section name="Status" id="{c32d36f8-d2c6-502f-1f65-0be7f0f9b6b7}">
          <p14:sldIdLst>
            <p14:sldId id="257"/>
            <p14:sldId id="258"/>
            <p14:sldId id="259"/>
            <p14:sldId id="260"/>
            <p14:sldId id="261"/>
          </p14:sldIdLst>
        </p14:section>
        <p14:section name="Next steps" id="{34abecc1-62c1-c44b-e2e5-c6b08b0e843e}">
          <p14:sldIdLst>
            <p14:sldId id="262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notesMaster" Target="notesMasters/notesMaster1.xml"/><Relationship Id="rId10" Type="http://schemas.openxmlformats.org/officeDocument/2006/relationships/presProps" Target="presProps.xml"/><Relationship Id="rId11" Type="http://schemas.openxmlformats.org/officeDocument/2006/relationships/viewProps" Target="viewProps.xml"/><Relationship Id="rId12" Type="http://schemas.openxmlformats.org/officeDocument/2006/relationships/theme" Target="theme/theme1.xml"/><Relationship Id="rId13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Component dot = green if all items done, orange if partially done, red if nothing done. Figures = items done / total.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_DARK">
    <p:bg>
      <p:bgPr>
        <a:solidFill>
          <a:schemeClr val="tx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731520" y="2103120"/>
            <a:ext cx="10698480" cy="146304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4400" b="1" dirty="0">
                <a:solidFill>
                  <a:schemeClr val="bg1"/>
                </a:solidFill>
              </a:defRPr>
            </a:lvl1pPr>
          </a:lstStyle>
          <a:p>
            <a:pPr algn="l" indent="0" marL="0">
              <a:buNone/>
            </a:pPr>
            <a:endParaRPr lang="en-US" sz="44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731520" y="3749040"/>
            <a:ext cx="10698480" cy="109728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2000" dirty="0">
                <a:solidFill>
                  <a:schemeClr val="accent5"/>
                </a:solidFill>
              </a:defRPr>
            </a:lvl1pPr>
          </a:lstStyle>
          <a:p>
            <a:pPr algn="l" indent="0" marL="0">
              <a:buNone/>
            </a:pPr>
            <a:endParaRPr lang="en-US" sz="2000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">
    <p:bg>
      <p:bgPr>
        <a:solidFill>
          <a:schemeClr val="bg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320040"/>
            <a:ext cx="11247120" cy="73152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200" b="1" dirty="0">
                <a:solidFill>
                  <a:schemeClr val="tx1"/>
                </a:solidFill>
              </a:defRPr>
            </a:lvl1pPr>
          </a:lstStyle>
          <a:p>
            <a:pPr algn="l" indent="0" marL="0">
              <a:buNone/>
            </a:pPr>
            <a:endParaRPr lang="en-US" sz="3200" dirty="0"/>
          </a:p>
        </p:txBody>
      </p:sp>
      <p:sp>
        <p:nvSpPr>
          <p:cNvPr id="3" name="Text 0"/>
          <p:cNvSpPr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chemeClr val="accent6"/>
                </a:solidFill>
              </a:rPr>
              <a:t>DataCapture project — Steering Committee — October 2026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74552" y="6473952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1003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74552" y="6473952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731520" y="2103120"/>
            <a:ext cx="1069848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en-US" sz="4400" b="1" dirty="0">
                <a:solidFill>
                  <a:schemeClr val="bg1"/>
                </a:solidFill>
              </a:rPr>
              <a:t>DataCapture Project — Steering Committee</a:t>
            </a:r>
            <a:endParaRPr lang="en-US" sz="44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731520" y="3749040"/>
            <a:ext cx="106984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000" dirty="0">
                <a:solidFill>
                  <a:schemeClr val="accent5"/>
                </a:solidFill>
              </a:rPr>
              <a:t>Project status by component</a:t>
            </a:r>
            <a:endParaRPr lang="en-US" sz="2000" dirty="0"/>
          </a:p>
          <a:p>
            <a:pPr algn="l" indent="0" marL="0">
              <a:buNone/>
            </a:pPr>
            <a:r>
              <a:rPr lang="en-US" sz="2000" dirty="0">
                <a:solidFill>
                  <a:schemeClr val="accent5"/>
                </a:solidFill>
              </a:rPr>
              <a:t>October 2026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749808" y="1618488"/>
            <a:ext cx="237744" cy="237744"/>
          </a:xfrm>
          <a:prstGeom prst="ellipse">
            <a:avLst/>
          </a:prstGeom>
          <a:solidFill>
            <a:srgbClr val="2E9E44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133856" y="1618488"/>
            <a:ext cx="237744" cy="237744"/>
          </a:xfrm>
          <a:prstGeom prst="ellipse">
            <a:avLst/>
          </a:prstGeom>
          <a:solidFill>
            <a:srgbClr val="F2A33A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517904" y="1618488"/>
            <a:ext cx="237744" cy="237744"/>
          </a:xfrm>
          <a:prstGeom prst="ellipse">
            <a:avLst/>
          </a:prstGeom>
          <a:solidFill>
            <a:srgbClr val="D64545"/>
          </a:solidFill>
          <a:ln w="19050">
            <a:solidFill>
              <a:srgbClr val="FFFFFF"/>
            </a:solidFill>
            <a:prstDash val="solid"/>
          </a:ln>
        </p:spPr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320040"/>
            <a:ext cx="112471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1"/>
                </a:solidFill>
              </a:rPr>
              <a:t>Executive summary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457200" y="1325880"/>
            <a:ext cx="3931920" cy="1463040"/>
          </a:xfrm>
          <a:prstGeom prst="roundRect">
            <a:avLst>
              <a:gd name="adj" fmla="val 6250"/>
            </a:avLst>
          </a:prstGeom>
          <a:solidFill>
            <a:schemeClr val="bg2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685800" y="1417320"/>
            <a:ext cx="20116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000" b="1" dirty="0">
                <a:solidFill>
                  <a:schemeClr val="tx1"/>
                </a:solidFill>
              </a:rPr>
              <a:t>34</a:t>
            </a:r>
            <a:pPr indent="0" marL="0">
              <a:buNone/>
            </a:pPr>
            <a:r>
              <a:rPr lang="en-US" sz="2200" dirty="0">
                <a:solidFill>
                  <a:schemeClr val="accent6"/>
                </a:solidFill>
              </a:rPr>
              <a:t> / 36</a:t>
            </a:r>
            <a:endParaRPr lang="en-US" sz="5000" dirty="0"/>
          </a:p>
        </p:txBody>
      </p:sp>
      <p:sp>
        <p:nvSpPr>
          <p:cNvPr id="5" name="Text 3"/>
          <p:cNvSpPr txBox="1"/>
          <p:nvPr/>
        </p:nvSpPr>
        <p:spPr>
          <a:xfrm>
            <a:off x="685800" y="2331720"/>
            <a:ext cx="2103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tx2"/>
                </a:solidFill>
              </a:rPr>
              <a:t>Requirements spec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2651760" y="1527048"/>
            <a:ext cx="182880" cy="182880"/>
          </a:xfrm>
          <a:prstGeom prst="ellipse">
            <a:avLst/>
          </a:prstGeom>
          <a:solidFill>
            <a:srgbClr val="2E9E44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2926080" y="1481328"/>
            <a:ext cx="1417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chemeClr val="tx2"/>
                </a:solidFill>
              </a:rPr>
              <a:t>34 done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2651760" y="1837944"/>
            <a:ext cx="182880" cy="182880"/>
          </a:xfrm>
          <a:prstGeom prst="ellipse">
            <a:avLst/>
          </a:prstGeom>
          <a:solidFill>
            <a:srgbClr val="D64545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2926080" y="1792224"/>
            <a:ext cx="1417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chemeClr val="tx2"/>
                </a:solidFill>
              </a:rPr>
              <a:t>1 not started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2651760" y="2148840"/>
            <a:ext cx="182880" cy="182880"/>
          </a:xfrm>
          <a:prstGeom prst="ellipse">
            <a:avLst/>
          </a:prstGeom>
          <a:solidFill>
            <a:srgbClr val="B8C2D0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2926080" y="2103120"/>
            <a:ext cx="1417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chemeClr val="tx2"/>
                </a:solidFill>
              </a:rPr>
              <a:t>1 not provided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457200" y="3017520"/>
            <a:ext cx="3931920" cy="1463040"/>
          </a:xfrm>
          <a:prstGeom prst="roundRect">
            <a:avLst>
              <a:gd name="adj" fmla="val 6250"/>
            </a:avLst>
          </a:prstGeom>
          <a:solidFill>
            <a:schemeClr val="bg2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685800" y="3108960"/>
            <a:ext cx="20116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000" b="1" dirty="0">
                <a:solidFill>
                  <a:schemeClr val="tx1"/>
                </a:solidFill>
              </a:rPr>
              <a:t>31</a:t>
            </a:r>
            <a:pPr indent="0" marL="0">
              <a:buNone/>
            </a:pPr>
            <a:r>
              <a:rPr lang="en-US" sz="2200" dirty="0">
                <a:solidFill>
                  <a:schemeClr val="accent6"/>
                </a:solidFill>
              </a:rPr>
              <a:t> / 36</a:t>
            </a:r>
            <a:endParaRPr lang="en-US" sz="5000" dirty="0"/>
          </a:p>
        </p:txBody>
      </p:sp>
      <p:sp>
        <p:nvSpPr>
          <p:cNvPr id="14" name="Text 12"/>
          <p:cNvSpPr txBox="1"/>
          <p:nvPr/>
        </p:nvSpPr>
        <p:spPr>
          <a:xfrm>
            <a:off x="685800" y="4023360"/>
            <a:ext cx="2103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tx2"/>
                </a:solidFill>
              </a:rPr>
              <a:t>Development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2651760" y="3218688"/>
            <a:ext cx="182880" cy="182880"/>
          </a:xfrm>
          <a:prstGeom prst="ellipse">
            <a:avLst/>
          </a:prstGeom>
          <a:solidFill>
            <a:srgbClr val="2E9E44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2926080" y="3172968"/>
            <a:ext cx="1417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chemeClr val="tx2"/>
                </a:solidFill>
              </a:rPr>
              <a:t>31 done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2651760" y="3529584"/>
            <a:ext cx="182880" cy="182880"/>
          </a:xfrm>
          <a:prstGeom prst="ellipse">
            <a:avLst/>
          </a:prstGeom>
          <a:solidFill>
            <a:srgbClr val="F2A33A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2926080" y="3483864"/>
            <a:ext cx="1417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chemeClr val="tx2"/>
                </a:solidFill>
              </a:rPr>
              <a:t>1 in progress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2651760" y="3840480"/>
            <a:ext cx="182880" cy="182880"/>
          </a:xfrm>
          <a:prstGeom prst="ellipse">
            <a:avLst/>
          </a:prstGeom>
          <a:solidFill>
            <a:srgbClr val="D64545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2926080" y="3794760"/>
            <a:ext cx="1417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chemeClr val="tx2"/>
                </a:solidFill>
              </a:rPr>
              <a:t>3 not started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2651760" y="4151376"/>
            <a:ext cx="182880" cy="182880"/>
          </a:xfrm>
          <a:prstGeom prst="ellipse">
            <a:avLst/>
          </a:prstGeom>
          <a:solidFill>
            <a:srgbClr val="B8C2D0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2926080" y="4105656"/>
            <a:ext cx="1417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chemeClr val="tx2"/>
                </a:solidFill>
              </a:rPr>
              <a:t>1 not provided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457200" y="4709160"/>
            <a:ext cx="3931920" cy="1463040"/>
          </a:xfrm>
          <a:prstGeom prst="roundRect">
            <a:avLst>
              <a:gd name="adj" fmla="val 6250"/>
            </a:avLst>
          </a:prstGeom>
          <a:solidFill>
            <a:schemeClr val="bg2"/>
          </a:solidFill>
          <a:ln/>
        </p:spPr>
      </p:sp>
      <p:sp>
        <p:nvSpPr>
          <p:cNvPr id="24" name="Text 22"/>
          <p:cNvSpPr txBox="1"/>
          <p:nvPr/>
        </p:nvSpPr>
        <p:spPr>
          <a:xfrm>
            <a:off x="685800" y="4800600"/>
            <a:ext cx="20116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000" b="1" dirty="0">
                <a:solidFill>
                  <a:schemeClr val="tx1"/>
                </a:solidFill>
              </a:rPr>
              <a:t>3</a:t>
            </a:r>
            <a:pPr indent="0" marL="0">
              <a:buNone/>
            </a:pPr>
            <a:r>
              <a:rPr lang="en-US" sz="2200" dirty="0">
                <a:solidFill>
                  <a:schemeClr val="accent6"/>
                </a:solidFill>
              </a:rPr>
              <a:t> / 36</a:t>
            </a:r>
            <a:endParaRPr lang="en-US" sz="5000" dirty="0"/>
          </a:p>
        </p:txBody>
      </p:sp>
      <p:sp>
        <p:nvSpPr>
          <p:cNvPr id="25" name="Text 23"/>
          <p:cNvSpPr txBox="1"/>
          <p:nvPr/>
        </p:nvSpPr>
        <p:spPr>
          <a:xfrm>
            <a:off x="685800" y="5715000"/>
            <a:ext cx="2103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tx2"/>
                </a:solidFill>
              </a:rPr>
              <a:t>Testing</a:t>
            </a:r>
            <a:endParaRPr lang="en-US" sz="1400" dirty="0"/>
          </a:p>
        </p:txBody>
      </p:sp>
      <p:sp>
        <p:nvSpPr>
          <p:cNvPr id="26" name="Shape 24"/>
          <p:cNvSpPr/>
          <p:nvPr/>
        </p:nvSpPr>
        <p:spPr>
          <a:xfrm>
            <a:off x="2651760" y="4910328"/>
            <a:ext cx="182880" cy="182880"/>
          </a:xfrm>
          <a:prstGeom prst="ellipse">
            <a:avLst/>
          </a:prstGeom>
          <a:solidFill>
            <a:srgbClr val="2E9E44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27" name="Text 25"/>
          <p:cNvSpPr txBox="1"/>
          <p:nvPr/>
        </p:nvSpPr>
        <p:spPr>
          <a:xfrm>
            <a:off x="2926080" y="4864608"/>
            <a:ext cx="1417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chemeClr val="tx2"/>
                </a:solidFill>
              </a:rPr>
              <a:t>3 done</a:t>
            </a:r>
            <a:endParaRPr lang="en-US" sz="1200" dirty="0"/>
          </a:p>
        </p:txBody>
      </p:sp>
      <p:sp>
        <p:nvSpPr>
          <p:cNvPr id="28" name="Shape 26"/>
          <p:cNvSpPr/>
          <p:nvPr/>
        </p:nvSpPr>
        <p:spPr>
          <a:xfrm>
            <a:off x="2651760" y="5221224"/>
            <a:ext cx="182880" cy="182880"/>
          </a:xfrm>
          <a:prstGeom prst="ellipse">
            <a:avLst/>
          </a:prstGeom>
          <a:solidFill>
            <a:srgbClr val="D64545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29" name="Text 27"/>
          <p:cNvSpPr txBox="1"/>
          <p:nvPr/>
        </p:nvSpPr>
        <p:spPr>
          <a:xfrm>
            <a:off x="2926080" y="5175504"/>
            <a:ext cx="1417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chemeClr val="tx2"/>
                </a:solidFill>
              </a:rPr>
              <a:t>32 not started</a:t>
            </a:r>
            <a:endParaRPr lang="en-US" sz="1200" dirty="0"/>
          </a:p>
        </p:txBody>
      </p:sp>
      <p:sp>
        <p:nvSpPr>
          <p:cNvPr id="30" name="Shape 28"/>
          <p:cNvSpPr/>
          <p:nvPr/>
        </p:nvSpPr>
        <p:spPr>
          <a:xfrm>
            <a:off x="2651760" y="5532120"/>
            <a:ext cx="182880" cy="182880"/>
          </a:xfrm>
          <a:prstGeom prst="ellipse">
            <a:avLst/>
          </a:prstGeom>
          <a:solidFill>
            <a:srgbClr val="B8C2D0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31" name="Text 29"/>
          <p:cNvSpPr txBox="1"/>
          <p:nvPr/>
        </p:nvSpPr>
        <p:spPr>
          <a:xfrm>
            <a:off x="2926080" y="5486400"/>
            <a:ext cx="1417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chemeClr val="tx2"/>
                </a:solidFill>
              </a:rPr>
              <a:t>1 not provided</a:t>
            </a:r>
            <a:endParaRPr lang="en-US" sz="1200" dirty="0"/>
          </a:p>
        </p:txBody>
      </p:sp>
      <p:sp>
        <p:nvSpPr>
          <p:cNvPr id="32" name="Text 30"/>
          <p:cNvSpPr txBox="1"/>
          <p:nvPr/>
        </p:nvSpPr>
        <p:spPr>
          <a:xfrm>
            <a:off x="4846320" y="132588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chemeClr val="tx2"/>
                </a:solidFill>
              </a:rPr>
              <a:t>Component</a:t>
            </a:r>
            <a:endParaRPr lang="en-US" sz="1200" dirty="0"/>
          </a:p>
        </p:txBody>
      </p:sp>
      <p:sp>
        <p:nvSpPr>
          <p:cNvPr id="33" name="Text 31"/>
          <p:cNvSpPr txBox="1"/>
          <p:nvPr/>
        </p:nvSpPr>
        <p:spPr>
          <a:xfrm>
            <a:off x="9006840" y="132588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tx2"/>
                </a:solidFill>
              </a:rPr>
              <a:t>Spec</a:t>
            </a:r>
            <a:endParaRPr lang="en-US" sz="1200" dirty="0"/>
          </a:p>
        </p:txBody>
      </p:sp>
      <p:sp>
        <p:nvSpPr>
          <p:cNvPr id="34" name="Text 32"/>
          <p:cNvSpPr txBox="1"/>
          <p:nvPr/>
        </p:nvSpPr>
        <p:spPr>
          <a:xfrm>
            <a:off x="9921240" y="132588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tx2"/>
                </a:solidFill>
              </a:rPr>
              <a:t>Dev</a:t>
            </a:r>
            <a:endParaRPr lang="en-US" sz="1200" dirty="0"/>
          </a:p>
        </p:txBody>
      </p:sp>
      <p:sp>
        <p:nvSpPr>
          <p:cNvPr id="35" name="Text 33"/>
          <p:cNvSpPr txBox="1"/>
          <p:nvPr/>
        </p:nvSpPr>
        <p:spPr>
          <a:xfrm>
            <a:off x="10835640" y="132588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tx2"/>
                </a:solidFill>
              </a:rPr>
              <a:t>Test</a:t>
            </a:r>
            <a:endParaRPr lang="en-US" sz="1200" dirty="0"/>
          </a:p>
        </p:txBody>
      </p:sp>
      <p:sp>
        <p:nvSpPr>
          <p:cNvPr id="36" name="Shape 34"/>
          <p:cNvSpPr/>
          <p:nvPr/>
        </p:nvSpPr>
        <p:spPr>
          <a:xfrm>
            <a:off x="4754880" y="1691640"/>
            <a:ext cx="6949440" cy="457200"/>
          </a:xfrm>
          <a:prstGeom prst="roundRect">
            <a:avLst>
              <a:gd name="adj" fmla="val 12000"/>
            </a:avLst>
          </a:prstGeom>
          <a:solidFill>
            <a:schemeClr val="bg2"/>
          </a:solidFill>
          <a:ln/>
        </p:spPr>
      </p:sp>
      <p:sp>
        <p:nvSpPr>
          <p:cNvPr id="37" name="Text 35"/>
          <p:cNvSpPr txBox="1"/>
          <p:nvPr/>
        </p:nvSpPr>
        <p:spPr>
          <a:xfrm>
            <a:off x="4846320" y="1691640"/>
            <a:ext cx="4206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chemeClr val="tx1"/>
                </a:solidFill>
              </a:rPr>
              <a:t>Management access for users &amp; roles</a:t>
            </a:r>
            <a:pPr indent="0" marL="0">
              <a:buNone/>
            </a:pPr>
            <a:r>
              <a:rPr lang="en-US" sz="1200" dirty="0">
                <a:solidFill>
                  <a:schemeClr val="accent6"/>
                </a:solidFill>
              </a:rPr>
              <a:t>  (1)</a:t>
            </a:r>
            <a:endParaRPr lang="en-US" sz="1200" dirty="0"/>
          </a:p>
        </p:txBody>
      </p:sp>
      <p:sp>
        <p:nvSpPr>
          <p:cNvPr id="38" name="Shape 36"/>
          <p:cNvSpPr/>
          <p:nvPr/>
        </p:nvSpPr>
        <p:spPr>
          <a:xfrm>
            <a:off x="9171432" y="1828800"/>
            <a:ext cx="182880" cy="182880"/>
          </a:xfrm>
          <a:prstGeom prst="ellipse">
            <a:avLst/>
          </a:prstGeom>
          <a:solidFill>
            <a:srgbClr val="2E9E44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39" name="Text 37"/>
          <p:cNvSpPr txBox="1"/>
          <p:nvPr/>
        </p:nvSpPr>
        <p:spPr>
          <a:xfrm>
            <a:off x="9400032" y="16916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chemeClr val="tx2"/>
                </a:solidFill>
              </a:rPr>
              <a:t>1/1</a:t>
            </a:r>
            <a:endParaRPr lang="en-US" sz="1100" dirty="0"/>
          </a:p>
        </p:txBody>
      </p:sp>
      <p:sp>
        <p:nvSpPr>
          <p:cNvPr id="40" name="Shape 38"/>
          <p:cNvSpPr/>
          <p:nvPr/>
        </p:nvSpPr>
        <p:spPr>
          <a:xfrm>
            <a:off x="10085832" y="1828800"/>
            <a:ext cx="182880" cy="182880"/>
          </a:xfrm>
          <a:prstGeom prst="ellipse">
            <a:avLst/>
          </a:prstGeom>
          <a:solidFill>
            <a:srgbClr val="2E9E44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41" name="Text 39"/>
          <p:cNvSpPr txBox="1"/>
          <p:nvPr/>
        </p:nvSpPr>
        <p:spPr>
          <a:xfrm>
            <a:off x="10314432" y="16916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chemeClr val="tx2"/>
                </a:solidFill>
              </a:rPr>
              <a:t>1/1</a:t>
            </a:r>
            <a:endParaRPr lang="en-US" sz="1100" dirty="0"/>
          </a:p>
        </p:txBody>
      </p:sp>
      <p:sp>
        <p:nvSpPr>
          <p:cNvPr id="42" name="Shape 40"/>
          <p:cNvSpPr/>
          <p:nvPr/>
        </p:nvSpPr>
        <p:spPr>
          <a:xfrm>
            <a:off x="11000232" y="1828800"/>
            <a:ext cx="182880" cy="182880"/>
          </a:xfrm>
          <a:prstGeom prst="ellipse">
            <a:avLst/>
          </a:prstGeom>
          <a:solidFill>
            <a:srgbClr val="2E9E44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43" name="Text 41"/>
          <p:cNvSpPr txBox="1"/>
          <p:nvPr/>
        </p:nvSpPr>
        <p:spPr>
          <a:xfrm>
            <a:off x="11228832" y="16916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chemeClr val="tx2"/>
                </a:solidFill>
              </a:rPr>
              <a:t>1/1</a:t>
            </a:r>
            <a:endParaRPr lang="en-US" sz="1100" dirty="0"/>
          </a:p>
        </p:txBody>
      </p:sp>
      <p:sp>
        <p:nvSpPr>
          <p:cNvPr id="44" name="Text 42"/>
          <p:cNvSpPr txBox="1"/>
          <p:nvPr/>
        </p:nvSpPr>
        <p:spPr>
          <a:xfrm>
            <a:off x="4846320" y="2148840"/>
            <a:ext cx="4206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chemeClr val="tx1"/>
                </a:solidFill>
              </a:rPr>
              <a:t>Communication between DataCapture and ABBY</a:t>
            </a:r>
            <a:pPr indent="0" marL="0">
              <a:buNone/>
            </a:pPr>
            <a:r>
              <a:rPr lang="en-US" sz="1200" dirty="0">
                <a:solidFill>
                  <a:schemeClr val="accent6"/>
                </a:solidFill>
              </a:rPr>
              <a:t>  (6)</a:t>
            </a:r>
            <a:endParaRPr lang="en-US" sz="1200" dirty="0"/>
          </a:p>
        </p:txBody>
      </p:sp>
      <p:sp>
        <p:nvSpPr>
          <p:cNvPr id="45" name="Shape 43"/>
          <p:cNvSpPr/>
          <p:nvPr/>
        </p:nvSpPr>
        <p:spPr>
          <a:xfrm>
            <a:off x="9171432" y="2286000"/>
            <a:ext cx="182880" cy="182880"/>
          </a:xfrm>
          <a:prstGeom prst="ellipse">
            <a:avLst/>
          </a:prstGeom>
          <a:solidFill>
            <a:srgbClr val="F2A33A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46" name="Text 44"/>
          <p:cNvSpPr txBox="1"/>
          <p:nvPr/>
        </p:nvSpPr>
        <p:spPr>
          <a:xfrm>
            <a:off x="9400032" y="21488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chemeClr val="tx2"/>
                </a:solidFill>
              </a:rPr>
              <a:t>5/6</a:t>
            </a:r>
            <a:endParaRPr lang="en-US" sz="1100" dirty="0"/>
          </a:p>
        </p:txBody>
      </p:sp>
      <p:sp>
        <p:nvSpPr>
          <p:cNvPr id="47" name="Shape 45"/>
          <p:cNvSpPr/>
          <p:nvPr/>
        </p:nvSpPr>
        <p:spPr>
          <a:xfrm>
            <a:off x="10085832" y="2286000"/>
            <a:ext cx="182880" cy="182880"/>
          </a:xfrm>
          <a:prstGeom prst="ellipse">
            <a:avLst/>
          </a:prstGeom>
          <a:solidFill>
            <a:srgbClr val="F2A33A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48" name="Text 46"/>
          <p:cNvSpPr txBox="1"/>
          <p:nvPr/>
        </p:nvSpPr>
        <p:spPr>
          <a:xfrm>
            <a:off x="10314432" y="21488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chemeClr val="tx2"/>
                </a:solidFill>
              </a:rPr>
              <a:t>2/6</a:t>
            </a:r>
            <a:endParaRPr lang="en-US" sz="1100" dirty="0"/>
          </a:p>
        </p:txBody>
      </p:sp>
      <p:sp>
        <p:nvSpPr>
          <p:cNvPr id="49" name="Shape 47"/>
          <p:cNvSpPr/>
          <p:nvPr/>
        </p:nvSpPr>
        <p:spPr>
          <a:xfrm>
            <a:off x="11000232" y="2286000"/>
            <a:ext cx="182880" cy="182880"/>
          </a:xfrm>
          <a:prstGeom prst="ellipse">
            <a:avLst/>
          </a:prstGeom>
          <a:solidFill>
            <a:srgbClr val="D64545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50" name="Text 48"/>
          <p:cNvSpPr txBox="1"/>
          <p:nvPr/>
        </p:nvSpPr>
        <p:spPr>
          <a:xfrm>
            <a:off x="11228832" y="21488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chemeClr val="tx2"/>
                </a:solidFill>
              </a:rPr>
              <a:t>0/6</a:t>
            </a:r>
            <a:endParaRPr lang="en-US" sz="1100" dirty="0"/>
          </a:p>
        </p:txBody>
      </p:sp>
      <p:sp>
        <p:nvSpPr>
          <p:cNvPr id="51" name="Shape 49"/>
          <p:cNvSpPr/>
          <p:nvPr/>
        </p:nvSpPr>
        <p:spPr>
          <a:xfrm>
            <a:off x="4754880" y="2606040"/>
            <a:ext cx="6949440" cy="457200"/>
          </a:xfrm>
          <a:prstGeom prst="roundRect">
            <a:avLst>
              <a:gd name="adj" fmla="val 12000"/>
            </a:avLst>
          </a:prstGeom>
          <a:solidFill>
            <a:schemeClr val="bg2"/>
          </a:solidFill>
          <a:ln/>
        </p:spPr>
      </p:sp>
      <p:sp>
        <p:nvSpPr>
          <p:cNvPr id="52" name="Text 50"/>
          <p:cNvSpPr txBox="1"/>
          <p:nvPr/>
        </p:nvSpPr>
        <p:spPr>
          <a:xfrm>
            <a:off x="4846320" y="2606040"/>
            <a:ext cx="4206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chemeClr val="tx1"/>
                </a:solidFill>
              </a:rPr>
              <a:t>Communication between DataCapture and Algo</a:t>
            </a:r>
            <a:pPr indent="0" marL="0">
              <a:buNone/>
            </a:pPr>
            <a:r>
              <a:rPr lang="en-US" sz="1200" dirty="0">
                <a:solidFill>
                  <a:schemeClr val="accent6"/>
                </a:solidFill>
              </a:rPr>
              <a:t>  (1)</a:t>
            </a:r>
            <a:endParaRPr lang="en-US" sz="1200" dirty="0"/>
          </a:p>
        </p:txBody>
      </p:sp>
      <p:sp>
        <p:nvSpPr>
          <p:cNvPr id="53" name="Shape 51"/>
          <p:cNvSpPr/>
          <p:nvPr/>
        </p:nvSpPr>
        <p:spPr>
          <a:xfrm>
            <a:off x="9171432" y="2743200"/>
            <a:ext cx="182880" cy="182880"/>
          </a:xfrm>
          <a:prstGeom prst="ellipse">
            <a:avLst/>
          </a:prstGeom>
          <a:solidFill>
            <a:srgbClr val="2E9E44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54" name="Text 52"/>
          <p:cNvSpPr txBox="1"/>
          <p:nvPr/>
        </p:nvSpPr>
        <p:spPr>
          <a:xfrm>
            <a:off x="9400032" y="26060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chemeClr val="tx2"/>
                </a:solidFill>
              </a:rPr>
              <a:t>1/1</a:t>
            </a:r>
            <a:endParaRPr lang="en-US" sz="1100" dirty="0"/>
          </a:p>
        </p:txBody>
      </p:sp>
      <p:sp>
        <p:nvSpPr>
          <p:cNvPr id="55" name="Shape 53"/>
          <p:cNvSpPr/>
          <p:nvPr/>
        </p:nvSpPr>
        <p:spPr>
          <a:xfrm>
            <a:off x="10085832" y="2743200"/>
            <a:ext cx="182880" cy="182880"/>
          </a:xfrm>
          <a:prstGeom prst="ellipse">
            <a:avLst/>
          </a:prstGeom>
          <a:solidFill>
            <a:srgbClr val="2E9E44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56" name="Text 54"/>
          <p:cNvSpPr txBox="1"/>
          <p:nvPr/>
        </p:nvSpPr>
        <p:spPr>
          <a:xfrm>
            <a:off x="10314432" y="26060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chemeClr val="tx2"/>
                </a:solidFill>
              </a:rPr>
              <a:t>1/1</a:t>
            </a:r>
            <a:endParaRPr lang="en-US" sz="1100" dirty="0"/>
          </a:p>
        </p:txBody>
      </p:sp>
      <p:sp>
        <p:nvSpPr>
          <p:cNvPr id="57" name="Shape 55"/>
          <p:cNvSpPr/>
          <p:nvPr/>
        </p:nvSpPr>
        <p:spPr>
          <a:xfrm>
            <a:off x="11000232" y="2743200"/>
            <a:ext cx="182880" cy="182880"/>
          </a:xfrm>
          <a:prstGeom prst="ellipse">
            <a:avLst/>
          </a:prstGeom>
          <a:solidFill>
            <a:srgbClr val="2E9E44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58" name="Text 56"/>
          <p:cNvSpPr txBox="1"/>
          <p:nvPr/>
        </p:nvSpPr>
        <p:spPr>
          <a:xfrm>
            <a:off x="11228832" y="26060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chemeClr val="tx2"/>
                </a:solidFill>
              </a:rPr>
              <a:t>1/1</a:t>
            </a:r>
            <a:endParaRPr lang="en-US" sz="1100" dirty="0"/>
          </a:p>
        </p:txBody>
      </p:sp>
      <p:sp>
        <p:nvSpPr>
          <p:cNvPr id="59" name="Text 57"/>
          <p:cNvSpPr txBox="1"/>
          <p:nvPr/>
        </p:nvSpPr>
        <p:spPr>
          <a:xfrm>
            <a:off x="4846320" y="3063240"/>
            <a:ext cx="4206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chemeClr val="tx1"/>
                </a:solidFill>
              </a:rPr>
              <a:t>Transverse technical</a:t>
            </a:r>
            <a:pPr indent="0" marL="0">
              <a:buNone/>
            </a:pPr>
            <a:r>
              <a:rPr lang="en-US" sz="1200" dirty="0">
                <a:solidFill>
                  <a:schemeClr val="accent6"/>
                </a:solidFill>
              </a:rPr>
              <a:t>  (1)</a:t>
            </a:r>
            <a:endParaRPr lang="en-US" sz="1200" dirty="0"/>
          </a:p>
        </p:txBody>
      </p:sp>
      <p:sp>
        <p:nvSpPr>
          <p:cNvPr id="60" name="Shape 58"/>
          <p:cNvSpPr/>
          <p:nvPr/>
        </p:nvSpPr>
        <p:spPr>
          <a:xfrm>
            <a:off x="9171432" y="3200400"/>
            <a:ext cx="182880" cy="182880"/>
          </a:xfrm>
          <a:prstGeom prst="ellipse">
            <a:avLst/>
          </a:prstGeom>
          <a:solidFill>
            <a:srgbClr val="2E9E44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61" name="Text 59"/>
          <p:cNvSpPr txBox="1"/>
          <p:nvPr/>
        </p:nvSpPr>
        <p:spPr>
          <a:xfrm>
            <a:off x="9400032" y="30632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chemeClr val="tx2"/>
                </a:solidFill>
              </a:rPr>
              <a:t>1/1</a:t>
            </a:r>
            <a:endParaRPr lang="en-US" sz="1100" dirty="0"/>
          </a:p>
        </p:txBody>
      </p:sp>
      <p:sp>
        <p:nvSpPr>
          <p:cNvPr id="62" name="Shape 60"/>
          <p:cNvSpPr/>
          <p:nvPr/>
        </p:nvSpPr>
        <p:spPr>
          <a:xfrm>
            <a:off x="10085832" y="3200400"/>
            <a:ext cx="182880" cy="182880"/>
          </a:xfrm>
          <a:prstGeom prst="ellipse">
            <a:avLst/>
          </a:prstGeom>
          <a:solidFill>
            <a:srgbClr val="2E9E44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63" name="Text 61"/>
          <p:cNvSpPr txBox="1"/>
          <p:nvPr/>
        </p:nvSpPr>
        <p:spPr>
          <a:xfrm>
            <a:off x="10314432" y="30632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chemeClr val="tx2"/>
                </a:solidFill>
              </a:rPr>
              <a:t>1/1</a:t>
            </a:r>
            <a:endParaRPr lang="en-US" sz="1100" dirty="0"/>
          </a:p>
        </p:txBody>
      </p:sp>
      <p:sp>
        <p:nvSpPr>
          <p:cNvPr id="64" name="Shape 62"/>
          <p:cNvSpPr/>
          <p:nvPr/>
        </p:nvSpPr>
        <p:spPr>
          <a:xfrm>
            <a:off x="11000232" y="3200400"/>
            <a:ext cx="182880" cy="182880"/>
          </a:xfrm>
          <a:prstGeom prst="ellipse">
            <a:avLst/>
          </a:prstGeom>
          <a:solidFill>
            <a:srgbClr val="2E9E44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65" name="Text 63"/>
          <p:cNvSpPr txBox="1"/>
          <p:nvPr/>
        </p:nvSpPr>
        <p:spPr>
          <a:xfrm>
            <a:off x="11228832" y="30632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chemeClr val="tx2"/>
                </a:solidFill>
              </a:rPr>
              <a:t>1/1</a:t>
            </a:r>
            <a:endParaRPr lang="en-US" sz="1100" dirty="0"/>
          </a:p>
        </p:txBody>
      </p:sp>
      <p:sp>
        <p:nvSpPr>
          <p:cNvPr id="66" name="Shape 64"/>
          <p:cNvSpPr/>
          <p:nvPr/>
        </p:nvSpPr>
        <p:spPr>
          <a:xfrm>
            <a:off x="4754880" y="3520440"/>
            <a:ext cx="6949440" cy="457200"/>
          </a:xfrm>
          <a:prstGeom prst="roundRect">
            <a:avLst>
              <a:gd name="adj" fmla="val 12000"/>
            </a:avLst>
          </a:prstGeom>
          <a:solidFill>
            <a:schemeClr val="bg2"/>
          </a:solidFill>
          <a:ln/>
        </p:spPr>
      </p:sp>
      <p:sp>
        <p:nvSpPr>
          <p:cNvPr id="67" name="Text 65"/>
          <p:cNvSpPr txBox="1"/>
          <p:nvPr/>
        </p:nvSpPr>
        <p:spPr>
          <a:xfrm>
            <a:off x="4846320" y="3520440"/>
            <a:ext cx="4206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chemeClr val="tx1"/>
                </a:solidFill>
              </a:rPr>
              <a:t>Communication between DataCapture and Finstar</a:t>
            </a:r>
            <a:pPr indent="0" marL="0">
              <a:buNone/>
            </a:pPr>
            <a:r>
              <a:rPr lang="en-US" sz="1200" dirty="0">
                <a:solidFill>
                  <a:schemeClr val="accent6"/>
                </a:solidFill>
              </a:rPr>
              <a:t>  (9)</a:t>
            </a:r>
            <a:endParaRPr lang="en-US" sz="1200" dirty="0"/>
          </a:p>
        </p:txBody>
      </p:sp>
      <p:sp>
        <p:nvSpPr>
          <p:cNvPr id="68" name="Shape 66"/>
          <p:cNvSpPr/>
          <p:nvPr/>
        </p:nvSpPr>
        <p:spPr>
          <a:xfrm>
            <a:off x="9171432" y="3657600"/>
            <a:ext cx="182880" cy="182880"/>
          </a:xfrm>
          <a:prstGeom prst="ellipse">
            <a:avLst/>
          </a:prstGeom>
          <a:solidFill>
            <a:srgbClr val="2E9E44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69" name="Text 67"/>
          <p:cNvSpPr txBox="1"/>
          <p:nvPr/>
        </p:nvSpPr>
        <p:spPr>
          <a:xfrm>
            <a:off x="9400032" y="35204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chemeClr val="tx2"/>
                </a:solidFill>
              </a:rPr>
              <a:t>9/9</a:t>
            </a:r>
            <a:endParaRPr lang="en-US" sz="1100" dirty="0"/>
          </a:p>
        </p:txBody>
      </p:sp>
      <p:sp>
        <p:nvSpPr>
          <p:cNvPr id="70" name="Shape 68"/>
          <p:cNvSpPr/>
          <p:nvPr/>
        </p:nvSpPr>
        <p:spPr>
          <a:xfrm>
            <a:off x="10085832" y="3657600"/>
            <a:ext cx="182880" cy="182880"/>
          </a:xfrm>
          <a:prstGeom prst="ellipse">
            <a:avLst/>
          </a:prstGeom>
          <a:solidFill>
            <a:srgbClr val="2E9E44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71" name="Text 69"/>
          <p:cNvSpPr txBox="1"/>
          <p:nvPr/>
        </p:nvSpPr>
        <p:spPr>
          <a:xfrm>
            <a:off x="10314432" y="35204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chemeClr val="tx2"/>
                </a:solidFill>
              </a:rPr>
              <a:t>9/9</a:t>
            </a:r>
            <a:endParaRPr lang="en-US" sz="1100" dirty="0"/>
          </a:p>
        </p:txBody>
      </p:sp>
      <p:sp>
        <p:nvSpPr>
          <p:cNvPr id="72" name="Shape 70"/>
          <p:cNvSpPr/>
          <p:nvPr/>
        </p:nvSpPr>
        <p:spPr>
          <a:xfrm>
            <a:off x="11000232" y="3657600"/>
            <a:ext cx="182880" cy="182880"/>
          </a:xfrm>
          <a:prstGeom prst="ellipse">
            <a:avLst/>
          </a:prstGeom>
          <a:solidFill>
            <a:srgbClr val="D64545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73" name="Text 71"/>
          <p:cNvSpPr txBox="1"/>
          <p:nvPr/>
        </p:nvSpPr>
        <p:spPr>
          <a:xfrm>
            <a:off x="11228832" y="35204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chemeClr val="tx2"/>
                </a:solidFill>
              </a:rPr>
              <a:t>0/9</a:t>
            </a:r>
            <a:endParaRPr lang="en-US" sz="1100" dirty="0"/>
          </a:p>
        </p:txBody>
      </p:sp>
      <p:sp>
        <p:nvSpPr>
          <p:cNvPr id="74" name="Text 72"/>
          <p:cNvSpPr txBox="1"/>
          <p:nvPr/>
        </p:nvSpPr>
        <p:spPr>
          <a:xfrm>
            <a:off x="4846320" y="3977640"/>
            <a:ext cx="4206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chemeClr val="tx1"/>
                </a:solidFill>
              </a:rPr>
              <a:t>Document preprocessing &amp; routing</a:t>
            </a:r>
            <a:pPr indent="0" marL="0">
              <a:buNone/>
            </a:pPr>
            <a:r>
              <a:rPr lang="en-US" sz="1200" dirty="0">
                <a:solidFill>
                  <a:schemeClr val="accent6"/>
                </a:solidFill>
              </a:rPr>
              <a:t>  (10)</a:t>
            </a:r>
            <a:endParaRPr lang="en-US" sz="1200" dirty="0"/>
          </a:p>
        </p:txBody>
      </p:sp>
      <p:sp>
        <p:nvSpPr>
          <p:cNvPr id="75" name="Shape 73"/>
          <p:cNvSpPr/>
          <p:nvPr/>
        </p:nvSpPr>
        <p:spPr>
          <a:xfrm>
            <a:off x="9171432" y="4114800"/>
            <a:ext cx="182880" cy="182880"/>
          </a:xfrm>
          <a:prstGeom prst="ellipse">
            <a:avLst/>
          </a:prstGeom>
          <a:solidFill>
            <a:srgbClr val="2E9E44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76" name="Text 74"/>
          <p:cNvSpPr txBox="1"/>
          <p:nvPr/>
        </p:nvSpPr>
        <p:spPr>
          <a:xfrm>
            <a:off x="9400032" y="39776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chemeClr val="tx2"/>
                </a:solidFill>
              </a:rPr>
              <a:t>10/10</a:t>
            </a:r>
            <a:endParaRPr lang="en-US" sz="1100" dirty="0"/>
          </a:p>
        </p:txBody>
      </p:sp>
      <p:sp>
        <p:nvSpPr>
          <p:cNvPr id="77" name="Shape 75"/>
          <p:cNvSpPr/>
          <p:nvPr/>
        </p:nvSpPr>
        <p:spPr>
          <a:xfrm>
            <a:off x="10085832" y="4114800"/>
            <a:ext cx="182880" cy="182880"/>
          </a:xfrm>
          <a:prstGeom prst="ellipse">
            <a:avLst/>
          </a:prstGeom>
          <a:solidFill>
            <a:srgbClr val="2E9E44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78" name="Text 76"/>
          <p:cNvSpPr txBox="1"/>
          <p:nvPr/>
        </p:nvSpPr>
        <p:spPr>
          <a:xfrm>
            <a:off x="10314432" y="39776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chemeClr val="tx2"/>
                </a:solidFill>
              </a:rPr>
              <a:t>10/10</a:t>
            </a:r>
            <a:endParaRPr lang="en-US" sz="1100" dirty="0"/>
          </a:p>
        </p:txBody>
      </p:sp>
      <p:sp>
        <p:nvSpPr>
          <p:cNvPr id="79" name="Shape 77"/>
          <p:cNvSpPr/>
          <p:nvPr/>
        </p:nvSpPr>
        <p:spPr>
          <a:xfrm>
            <a:off x="11000232" y="4114800"/>
            <a:ext cx="182880" cy="182880"/>
          </a:xfrm>
          <a:prstGeom prst="ellipse">
            <a:avLst/>
          </a:prstGeom>
          <a:solidFill>
            <a:srgbClr val="D64545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80" name="Text 78"/>
          <p:cNvSpPr txBox="1"/>
          <p:nvPr/>
        </p:nvSpPr>
        <p:spPr>
          <a:xfrm>
            <a:off x="11228832" y="39776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chemeClr val="tx2"/>
                </a:solidFill>
              </a:rPr>
              <a:t>0/10</a:t>
            </a:r>
            <a:endParaRPr lang="en-US" sz="1100" dirty="0"/>
          </a:p>
        </p:txBody>
      </p:sp>
      <p:sp>
        <p:nvSpPr>
          <p:cNvPr id="81" name="Shape 79"/>
          <p:cNvSpPr/>
          <p:nvPr/>
        </p:nvSpPr>
        <p:spPr>
          <a:xfrm>
            <a:off x="4754880" y="4434840"/>
            <a:ext cx="6949440" cy="457200"/>
          </a:xfrm>
          <a:prstGeom prst="roundRect">
            <a:avLst>
              <a:gd name="adj" fmla="val 12000"/>
            </a:avLst>
          </a:prstGeom>
          <a:solidFill>
            <a:schemeClr val="bg2"/>
          </a:solidFill>
          <a:ln/>
        </p:spPr>
      </p:sp>
      <p:sp>
        <p:nvSpPr>
          <p:cNvPr id="82" name="Text 80"/>
          <p:cNvSpPr txBox="1"/>
          <p:nvPr/>
        </p:nvSpPr>
        <p:spPr>
          <a:xfrm>
            <a:off x="4846320" y="4434840"/>
            <a:ext cx="4206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chemeClr val="tx1"/>
                </a:solidFill>
              </a:rPr>
              <a:t>Standard format data extraction</a:t>
            </a:r>
            <a:pPr indent="0" marL="0">
              <a:buNone/>
            </a:pPr>
            <a:r>
              <a:rPr lang="en-US" sz="1200" dirty="0">
                <a:solidFill>
                  <a:schemeClr val="accent6"/>
                </a:solidFill>
              </a:rPr>
              <a:t>  (2)</a:t>
            </a:r>
            <a:endParaRPr lang="en-US" sz="1200" dirty="0"/>
          </a:p>
        </p:txBody>
      </p:sp>
      <p:sp>
        <p:nvSpPr>
          <p:cNvPr id="83" name="Shape 81"/>
          <p:cNvSpPr/>
          <p:nvPr/>
        </p:nvSpPr>
        <p:spPr>
          <a:xfrm>
            <a:off x="9171432" y="4572000"/>
            <a:ext cx="182880" cy="182880"/>
          </a:xfrm>
          <a:prstGeom prst="ellipse">
            <a:avLst/>
          </a:prstGeom>
          <a:solidFill>
            <a:srgbClr val="2E9E44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84" name="Text 82"/>
          <p:cNvSpPr txBox="1"/>
          <p:nvPr/>
        </p:nvSpPr>
        <p:spPr>
          <a:xfrm>
            <a:off x="9400032" y="44348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chemeClr val="tx2"/>
                </a:solidFill>
              </a:rPr>
              <a:t>2/2</a:t>
            </a:r>
            <a:endParaRPr lang="en-US" sz="1100" dirty="0"/>
          </a:p>
        </p:txBody>
      </p:sp>
      <p:sp>
        <p:nvSpPr>
          <p:cNvPr id="85" name="Shape 83"/>
          <p:cNvSpPr/>
          <p:nvPr/>
        </p:nvSpPr>
        <p:spPr>
          <a:xfrm>
            <a:off x="10085832" y="4572000"/>
            <a:ext cx="182880" cy="182880"/>
          </a:xfrm>
          <a:prstGeom prst="ellipse">
            <a:avLst/>
          </a:prstGeom>
          <a:solidFill>
            <a:srgbClr val="2E9E44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86" name="Text 84"/>
          <p:cNvSpPr txBox="1"/>
          <p:nvPr/>
        </p:nvSpPr>
        <p:spPr>
          <a:xfrm>
            <a:off x="10314432" y="44348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chemeClr val="tx2"/>
                </a:solidFill>
              </a:rPr>
              <a:t>2/2</a:t>
            </a:r>
            <a:endParaRPr lang="en-US" sz="1100" dirty="0"/>
          </a:p>
        </p:txBody>
      </p:sp>
      <p:sp>
        <p:nvSpPr>
          <p:cNvPr id="87" name="Shape 85"/>
          <p:cNvSpPr/>
          <p:nvPr/>
        </p:nvSpPr>
        <p:spPr>
          <a:xfrm>
            <a:off x="11000232" y="4572000"/>
            <a:ext cx="182880" cy="182880"/>
          </a:xfrm>
          <a:prstGeom prst="ellipse">
            <a:avLst/>
          </a:prstGeom>
          <a:solidFill>
            <a:srgbClr val="D64545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88" name="Text 86"/>
          <p:cNvSpPr txBox="1"/>
          <p:nvPr/>
        </p:nvSpPr>
        <p:spPr>
          <a:xfrm>
            <a:off x="11228832" y="44348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chemeClr val="tx2"/>
                </a:solidFill>
              </a:rPr>
              <a:t>0/2</a:t>
            </a:r>
            <a:endParaRPr lang="en-US" sz="1100" dirty="0"/>
          </a:p>
        </p:txBody>
      </p:sp>
      <p:sp>
        <p:nvSpPr>
          <p:cNvPr id="89" name="Text 87"/>
          <p:cNvSpPr txBox="1"/>
          <p:nvPr/>
        </p:nvSpPr>
        <p:spPr>
          <a:xfrm>
            <a:off x="4846320" y="4892040"/>
            <a:ext cx="4206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chemeClr val="tx1"/>
                </a:solidFill>
              </a:rPr>
              <a:t>Free format data extraction</a:t>
            </a:r>
            <a:pPr indent="0" marL="0">
              <a:buNone/>
            </a:pPr>
            <a:r>
              <a:rPr lang="en-US" sz="1200" dirty="0">
                <a:solidFill>
                  <a:schemeClr val="accent6"/>
                </a:solidFill>
              </a:rPr>
              <a:t>  (2)</a:t>
            </a:r>
            <a:endParaRPr lang="en-US" sz="1200" dirty="0"/>
          </a:p>
        </p:txBody>
      </p:sp>
      <p:sp>
        <p:nvSpPr>
          <p:cNvPr id="90" name="Shape 88"/>
          <p:cNvSpPr/>
          <p:nvPr/>
        </p:nvSpPr>
        <p:spPr>
          <a:xfrm>
            <a:off x="9171432" y="5029200"/>
            <a:ext cx="182880" cy="182880"/>
          </a:xfrm>
          <a:prstGeom prst="ellipse">
            <a:avLst/>
          </a:prstGeom>
          <a:solidFill>
            <a:srgbClr val="2E9E44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91" name="Text 89"/>
          <p:cNvSpPr txBox="1"/>
          <p:nvPr/>
        </p:nvSpPr>
        <p:spPr>
          <a:xfrm>
            <a:off x="9400032" y="48920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chemeClr val="tx2"/>
                </a:solidFill>
              </a:rPr>
              <a:t>2/2</a:t>
            </a:r>
            <a:endParaRPr lang="en-US" sz="1100" dirty="0"/>
          </a:p>
        </p:txBody>
      </p:sp>
      <p:sp>
        <p:nvSpPr>
          <p:cNvPr id="92" name="Shape 90"/>
          <p:cNvSpPr/>
          <p:nvPr/>
        </p:nvSpPr>
        <p:spPr>
          <a:xfrm>
            <a:off x="10085832" y="5029200"/>
            <a:ext cx="182880" cy="182880"/>
          </a:xfrm>
          <a:prstGeom prst="ellipse">
            <a:avLst/>
          </a:prstGeom>
          <a:solidFill>
            <a:srgbClr val="2E9E44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93" name="Text 91"/>
          <p:cNvSpPr txBox="1"/>
          <p:nvPr/>
        </p:nvSpPr>
        <p:spPr>
          <a:xfrm>
            <a:off x="10314432" y="48920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chemeClr val="tx2"/>
                </a:solidFill>
              </a:rPr>
              <a:t>2/2</a:t>
            </a:r>
            <a:endParaRPr lang="en-US" sz="1100" dirty="0"/>
          </a:p>
        </p:txBody>
      </p:sp>
      <p:sp>
        <p:nvSpPr>
          <p:cNvPr id="94" name="Shape 92"/>
          <p:cNvSpPr/>
          <p:nvPr/>
        </p:nvSpPr>
        <p:spPr>
          <a:xfrm>
            <a:off x="11000232" y="5029200"/>
            <a:ext cx="182880" cy="182880"/>
          </a:xfrm>
          <a:prstGeom prst="ellipse">
            <a:avLst/>
          </a:prstGeom>
          <a:solidFill>
            <a:srgbClr val="D64545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95" name="Text 93"/>
          <p:cNvSpPr txBox="1"/>
          <p:nvPr/>
        </p:nvSpPr>
        <p:spPr>
          <a:xfrm>
            <a:off x="11228832" y="48920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chemeClr val="tx2"/>
                </a:solidFill>
              </a:rPr>
              <a:t>0/2</a:t>
            </a:r>
            <a:endParaRPr lang="en-US" sz="1100" dirty="0"/>
          </a:p>
        </p:txBody>
      </p:sp>
      <p:sp>
        <p:nvSpPr>
          <p:cNvPr id="96" name="Shape 94"/>
          <p:cNvSpPr/>
          <p:nvPr/>
        </p:nvSpPr>
        <p:spPr>
          <a:xfrm>
            <a:off x="4754880" y="5349240"/>
            <a:ext cx="6949440" cy="457200"/>
          </a:xfrm>
          <a:prstGeom prst="roundRect">
            <a:avLst>
              <a:gd name="adj" fmla="val 12000"/>
            </a:avLst>
          </a:prstGeom>
          <a:solidFill>
            <a:schemeClr val="bg2"/>
          </a:solidFill>
          <a:ln/>
        </p:spPr>
      </p:sp>
      <p:sp>
        <p:nvSpPr>
          <p:cNvPr id="97" name="Text 95"/>
          <p:cNvSpPr txBox="1"/>
          <p:nvPr/>
        </p:nvSpPr>
        <p:spPr>
          <a:xfrm>
            <a:off x="4846320" y="5349240"/>
            <a:ext cx="4206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chemeClr val="tx1"/>
                </a:solidFill>
              </a:rPr>
              <a:t>Post extraction treatment</a:t>
            </a:r>
            <a:pPr indent="0" marL="0">
              <a:buNone/>
            </a:pPr>
            <a:r>
              <a:rPr lang="en-US" sz="1200" dirty="0">
                <a:solidFill>
                  <a:schemeClr val="accent6"/>
                </a:solidFill>
              </a:rPr>
              <a:t>  (3)</a:t>
            </a:r>
            <a:endParaRPr lang="en-US" sz="1200" dirty="0"/>
          </a:p>
        </p:txBody>
      </p:sp>
      <p:sp>
        <p:nvSpPr>
          <p:cNvPr id="98" name="Shape 96"/>
          <p:cNvSpPr/>
          <p:nvPr/>
        </p:nvSpPr>
        <p:spPr>
          <a:xfrm>
            <a:off x="9171432" y="5486400"/>
            <a:ext cx="182880" cy="182880"/>
          </a:xfrm>
          <a:prstGeom prst="ellipse">
            <a:avLst/>
          </a:prstGeom>
          <a:solidFill>
            <a:srgbClr val="2E9E44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99" name="Text 97"/>
          <p:cNvSpPr txBox="1"/>
          <p:nvPr/>
        </p:nvSpPr>
        <p:spPr>
          <a:xfrm>
            <a:off x="9400032" y="53492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chemeClr val="tx2"/>
                </a:solidFill>
              </a:rPr>
              <a:t>3/3</a:t>
            </a:r>
            <a:endParaRPr lang="en-US" sz="1100" dirty="0"/>
          </a:p>
        </p:txBody>
      </p:sp>
      <p:sp>
        <p:nvSpPr>
          <p:cNvPr id="100" name="Shape 98"/>
          <p:cNvSpPr/>
          <p:nvPr/>
        </p:nvSpPr>
        <p:spPr>
          <a:xfrm>
            <a:off x="10085832" y="5486400"/>
            <a:ext cx="182880" cy="182880"/>
          </a:xfrm>
          <a:prstGeom prst="ellipse">
            <a:avLst/>
          </a:prstGeom>
          <a:solidFill>
            <a:srgbClr val="2E9E44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101" name="Text 99"/>
          <p:cNvSpPr txBox="1"/>
          <p:nvPr/>
        </p:nvSpPr>
        <p:spPr>
          <a:xfrm>
            <a:off x="10314432" y="53492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chemeClr val="tx2"/>
                </a:solidFill>
              </a:rPr>
              <a:t>3/3</a:t>
            </a:r>
            <a:endParaRPr lang="en-US" sz="1100" dirty="0"/>
          </a:p>
        </p:txBody>
      </p:sp>
      <p:sp>
        <p:nvSpPr>
          <p:cNvPr id="102" name="Shape 100"/>
          <p:cNvSpPr/>
          <p:nvPr/>
        </p:nvSpPr>
        <p:spPr>
          <a:xfrm>
            <a:off x="11000232" y="5486400"/>
            <a:ext cx="182880" cy="182880"/>
          </a:xfrm>
          <a:prstGeom prst="ellipse">
            <a:avLst/>
          </a:prstGeom>
          <a:solidFill>
            <a:srgbClr val="D64545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103" name="Text 101"/>
          <p:cNvSpPr txBox="1"/>
          <p:nvPr/>
        </p:nvSpPr>
        <p:spPr>
          <a:xfrm>
            <a:off x="11228832" y="53492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chemeClr val="tx2"/>
                </a:solidFill>
              </a:rPr>
              <a:t>0/3</a:t>
            </a:r>
            <a:endParaRPr lang="en-US" sz="1100" dirty="0"/>
          </a:p>
        </p:txBody>
      </p:sp>
      <p:sp>
        <p:nvSpPr>
          <p:cNvPr id="104" name="Text 102"/>
          <p:cNvSpPr txBox="1"/>
          <p:nvPr/>
        </p:nvSpPr>
        <p:spPr>
          <a:xfrm>
            <a:off x="4846320" y="5806440"/>
            <a:ext cx="4206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chemeClr val="tx1"/>
                </a:solidFill>
              </a:rPr>
              <a:t>Extraction log &amp; reporting</a:t>
            </a:r>
            <a:pPr indent="0" marL="0">
              <a:buNone/>
            </a:pPr>
            <a:r>
              <a:rPr lang="en-US" sz="1200" dirty="0">
                <a:solidFill>
                  <a:schemeClr val="accent6"/>
                </a:solidFill>
              </a:rPr>
              <a:t>  (1)</a:t>
            </a:r>
            <a:endParaRPr lang="en-US" sz="1200" dirty="0"/>
          </a:p>
        </p:txBody>
      </p:sp>
      <p:sp>
        <p:nvSpPr>
          <p:cNvPr id="105" name="Shape 103"/>
          <p:cNvSpPr/>
          <p:nvPr/>
        </p:nvSpPr>
        <p:spPr>
          <a:xfrm>
            <a:off x="9171432" y="5943600"/>
            <a:ext cx="182880" cy="182880"/>
          </a:xfrm>
          <a:prstGeom prst="ellipse">
            <a:avLst/>
          </a:prstGeom>
          <a:solidFill>
            <a:srgbClr val="D64545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106" name="Text 104"/>
          <p:cNvSpPr txBox="1"/>
          <p:nvPr/>
        </p:nvSpPr>
        <p:spPr>
          <a:xfrm>
            <a:off x="9400032" y="58064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chemeClr val="tx2"/>
                </a:solidFill>
              </a:rPr>
              <a:t>0/1</a:t>
            </a:r>
            <a:endParaRPr lang="en-US" sz="1100" dirty="0"/>
          </a:p>
        </p:txBody>
      </p:sp>
      <p:sp>
        <p:nvSpPr>
          <p:cNvPr id="107" name="Shape 105"/>
          <p:cNvSpPr/>
          <p:nvPr/>
        </p:nvSpPr>
        <p:spPr>
          <a:xfrm>
            <a:off x="10085832" y="5943600"/>
            <a:ext cx="182880" cy="182880"/>
          </a:xfrm>
          <a:prstGeom prst="ellipse">
            <a:avLst/>
          </a:prstGeom>
          <a:solidFill>
            <a:srgbClr val="D64545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108" name="Text 106"/>
          <p:cNvSpPr txBox="1"/>
          <p:nvPr/>
        </p:nvSpPr>
        <p:spPr>
          <a:xfrm>
            <a:off x="10314432" y="58064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chemeClr val="tx2"/>
                </a:solidFill>
              </a:rPr>
              <a:t>0/1</a:t>
            </a:r>
            <a:endParaRPr lang="en-US" sz="1100" dirty="0"/>
          </a:p>
        </p:txBody>
      </p:sp>
      <p:sp>
        <p:nvSpPr>
          <p:cNvPr id="109" name="Shape 107"/>
          <p:cNvSpPr/>
          <p:nvPr/>
        </p:nvSpPr>
        <p:spPr>
          <a:xfrm>
            <a:off x="11000232" y="5943600"/>
            <a:ext cx="182880" cy="182880"/>
          </a:xfrm>
          <a:prstGeom prst="ellipse">
            <a:avLst/>
          </a:prstGeom>
          <a:solidFill>
            <a:srgbClr val="D64545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110" name="Text 108"/>
          <p:cNvSpPr txBox="1"/>
          <p:nvPr/>
        </p:nvSpPr>
        <p:spPr>
          <a:xfrm>
            <a:off x="11228832" y="58064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chemeClr val="tx2"/>
                </a:solidFill>
              </a:rPr>
              <a:t>0/1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74552" y="6473952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320040"/>
            <a:ext cx="112471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1"/>
                </a:solidFill>
              </a:rPr>
              <a:t>Status board — Access, ABBY, Algo &amp; transverse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457200" y="1161288"/>
            <a:ext cx="182880" cy="182880"/>
          </a:xfrm>
          <a:prstGeom prst="ellipse">
            <a:avLst/>
          </a:prstGeom>
          <a:solidFill>
            <a:srgbClr val="2E9E44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713232" y="1115568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chemeClr val="accent6"/>
                </a:solidFill>
              </a:rPr>
              <a:t>Done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1783080" y="1161288"/>
            <a:ext cx="182880" cy="182880"/>
          </a:xfrm>
          <a:prstGeom prst="ellipse">
            <a:avLst/>
          </a:prstGeom>
          <a:solidFill>
            <a:srgbClr val="F2A33A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2039112" y="1115568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chemeClr val="accent6"/>
                </a:solidFill>
              </a:rPr>
              <a:t>In progress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3108960" y="1161288"/>
            <a:ext cx="182880" cy="182880"/>
          </a:xfrm>
          <a:prstGeom prst="ellipse">
            <a:avLst/>
          </a:prstGeom>
          <a:solidFill>
            <a:srgbClr val="D64545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3364992" y="1115568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chemeClr val="accent6"/>
                </a:solidFill>
              </a:rPr>
              <a:t>Not started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4434840" y="1161288"/>
            <a:ext cx="182880" cy="182880"/>
          </a:xfrm>
          <a:prstGeom prst="ellipse">
            <a:avLst/>
          </a:prstGeom>
          <a:solidFill>
            <a:srgbClr val="B8C2D0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4690872" y="1115568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chemeClr val="accent6"/>
                </a:solidFill>
              </a:rPr>
              <a:t>Status not provided</a:t>
            </a:r>
            <a:endParaRPr lang="en-US" sz="1000" dirty="0"/>
          </a:p>
        </p:txBody>
      </p:sp>
      <p:sp>
        <p:nvSpPr>
          <p:cNvPr id="11" name="Text 9"/>
          <p:cNvSpPr txBox="1"/>
          <p:nvPr/>
        </p:nvSpPr>
        <p:spPr>
          <a:xfrm>
            <a:off x="8275320" y="1115568"/>
            <a:ext cx="822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tx2"/>
                </a:solidFill>
              </a:rPr>
              <a:t>Jira</a:t>
            </a:r>
            <a:endParaRPr lang="en-US" sz="1200" dirty="0"/>
          </a:p>
        </p:txBody>
      </p:sp>
      <p:sp>
        <p:nvSpPr>
          <p:cNvPr id="12" name="Text 10"/>
          <p:cNvSpPr txBox="1"/>
          <p:nvPr/>
        </p:nvSpPr>
        <p:spPr>
          <a:xfrm>
            <a:off x="9326880" y="1115568"/>
            <a:ext cx="822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tx2"/>
                </a:solidFill>
              </a:rPr>
              <a:t>Spec</a:t>
            </a:r>
            <a:endParaRPr lang="en-US" sz="1200" dirty="0"/>
          </a:p>
        </p:txBody>
      </p:sp>
      <p:sp>
        <p:nvSpPr>
          <p:cNvPr id="13" name="Text 11"/>
          <p:cNvSpPr txBox="1"/>
          <p:nvPr/>
        </p:nvSpPr>
        <p:spPr>
          <a:xfrm>
            <a:off x="10149840" y="1115568"/>
            <a:ext cx="822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tx2"/>
                </a:solidFill>
              </a:rPr>
              <a:t>Dev</a:t>
            </a:r>
            <a:endParaRPr lang="en-US" sz="1200" dirty="0"/>
          </a:p>
        </p:txBody>
      </p:sp>
      <p:sp>
        <p:nvSpPr>
          <p:cNvPr id="14" name="Text 12"/>
          <p:cNvSpPr txBox="1"/>
          <p:nvPr/>
        </p:nvSpPr>
        <p:spPr>
          <a:xfrm>
            <a:off x="10972800" y="1115568"/>
            <a:ext cx="822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tx2"/>
                </a:solidFill>
              </a:rPr>
              <a:t>Test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457200" y="1481328"/>
            <a:ext cx="11274552" cy="530352"/>
          </a:xfrm>
          <a:prstGeom prst="roundRect">
            <a:avLst>
              <a:gd name="adj" fmla="val 13793"/>
            </a:avLst>
          </a:prstGeom>
          <a:solidFill>
            <a:schemeClr val="bg2"/>
          </a:solidFill>
          <a:ln/>
        </p:spPr>
      </p:sp>
      <p:sp>
        <p:nvSpPr>
          <p:cNvPr id="16" name="Shape 14"/>
          <p:cNvSpPr/>
          <p:nvPr/>
        </p:nvSpPr>
        <p:spPr>
          <a:xfrm>
            <a:off x="457200" y="1481328"/>
            <a:ext cx="2514600" cy="530352"/>
          </a:xfrm>
          <a:prstGeom prst="roundRect">
            <a:avLst>
              <a:gd name="adj" fmla="val 13793"/>
            </a:avLst>
          </a:prstGeom>
          <a:solidFill>
            <a:schemeClr val="tx1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603504" y="1481328"/>
            <a:ext cx="22402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chemeClr val="bg1"/>
                </a:solidFill>
              </a:rPr>
              <a:t>Management access for users &amp; roles</a:t>
            </a:r>
            <a:endParaRPr lang="en-US" sz="1100" dirty="0"/>
          </a:p>
        </p:txBody>
      </p:sp>
      <p:sp>
        <p:nvSpPr>
          <p:cNvPr id="18" name="Text 16"/>
          <p:cNvSpPr txBox="1"/>
          <p:nvPr/>
        </p:nvSpPr>
        <p:spPr>
          <a:xfrm>
            <a:off x="3200400" y="1517904"/>
            <a:ext cx="5029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chemeClr val="tx1"/>
                </a:solidFill>
              </a:rPr>
              <a:t>Management access for the users &amp; roles</a:t>
            </a:r>
            <a:endParaRPr lang="en-US" sz="1250" dirty="0"/>
          </a:p>
        </p:txBody>
      </p:sp>
      <p:sp>
        <p:nvSpPr>
          <p:cNvPr id="19" name="Text 17"/>
          <p:cNvSpPr txBox="1"/>
          <p:nvPr/>
        </p:nvSpPr>
        <p:spPr>
          <a:xfrm>
            <a:off x="8275320" y="1517904"/>
            <a:ext cx="822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chemeClr val="accent6"/>
                </a:solidFill>
              </a:rPr>
              <a:t>XXXX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9619488" y="1627632"/>
            <a:ext cx="237744" cy="237744"/>
          </a:xfrm>
          <a:prstGeom prst="ellipse">
            <a:avLst/>
          </a:prstGeom>
          <a:solidFill>
            <a:srgbClr val="2E9E44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10442448" y="1627632"/>
            <a:ext cx="237744" cy="237744"/>
          </a:xfrm>
          <a:prstGeom prst="ellipse">
            <a:avLst/>
          </a:prstGeom>
          <a:solidFill>
            <a:srgbClr val="2E9E44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11265408" y="1627632"/>
            <a:ext cx="237744" cy="237744"/>
          </a:xfrm>
          <a:prstGeom prst="ellipse">
            <a:avLst/>
          </a:prstGeom>
          <a:solidFill>
            <a:srgbClr val="2E9E44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457200" y="2121408"/>
            <a:ext cx="11274552" cy="2816352"/>
          </a:xfrm>
          <a:prstGeom prst="roundRect">
            <a:avLst>
              <a:gd name="adj" fmla="val 2597"/>
            </a:avLst>
          </a:prstGeom>
          <a:solidFill>
            <a:schemeClr val="bg2"/>
          </a:solidFill>
          <a:ln/>
        </p:spPr>
      </p:sp>
      <p:sp>
        <p:nvSpPr>
          <p:cNvPr id="24" name="Shape 22"/>
          <p:cNvSpPr/>
          <p:nvPr/>
        </p:nvSpPr>
        <p:spPr>
          <a:xfrm>
            <a:off x="457200" y="2121408"/>
            <a:ext cx="2514600" cy="2816352"/>
          </a:xfrm>
          <a:prstGeom prst="roundRect">
            <a:avLst>
              <a:gd name="adj" fmla="val 2909"/>
            </a:avLst>
          </a:prstGeom>
          <a:solidFill>
            <a:schemeClr val="tx1"/>
          </a:solidFill>
          <a:ln/>
        </p:spPr>
      </p:sp>
      <p:sp>
        <p:nvSpPr>
          <p:cNvPr id="25" name="Text 23"/>
          <p:cNvSpPr txBox="1"/>
          <p:nvPr/>
        </p:nvSpPr>
        <p:spPr>
          <a:xfrm>
            <a:off x="603504" y="2121408"/>
            <a:ext cx="2240280" cy="2816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Communication between DataCapture and ABBY</a:t>
            </a:r>
            <a:endParaRPr lang="en-US" sz="1300" dirty="0"/>
          </a:p>
        </p:txBody>
      </p:sp>
      <p:sp>
        <p:nvSpPr>
          <p:cNvPr id="26" name="Text 24"/>
          <p:cNvSpPr txBox="1"/>
          <p:nvPr/>
        </p:nvSpPr>
        <p:spPr>
          <a:xfrm>
            <a:off x="3200400" y="2157984"/>
            <a:ext cx="5029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chemeClr val="tx1"/>
                </a:solidFill>
              </a:rPr>
              <a:t>Get token to access APIGEE</a:t>
            </a:r>
            <a:endParaRPr lang="en-US" sz="1250" dirty="0"/>
          </a:p>
        </p:txBody>
      </p:sp>
      <p:sp>
        <p:nvSpPr>
          <p:cNvPr id="27" name="Text 25"/>
          <p:cNvSpPr txBox="1"/>
          <p:nvPr/>
        </p:nvSpPr>
        <p:spPr>
          <a:xfrm>
            <a:off x="8275320" y="2157984"/>
            <a:ext cx="822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chemeClr val="accent6"/>
                </a:solidFill>
              </a:rPr>
              <a:t>XXXX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9619488" y="2267712"/>
            <a:ext cx="237744" cy="237744"/>
          </a:xfrm>
          <a:prstGeom prst="ellipse">
            <a:avLst/>
          </a:prstGeom>
          <a:solidFill>
            <a:srgbClr val="2E9E44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10442448" y="2267712"/>
            <a:ext cx="237744" cy="237744"/>
          </a:xfrm>
          <a:prstGeom prst="ellipse">
            <a:avLst/>
          </a:prstGeom>
          <a:solidFill>
            <a:srgbClr val="D64545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11265408" y="2267712"/>
            <a:ext cx="237744" cy="237744"/>
          </a:xfrm>
          <a:prstGeom prst="ellipse">
            <a:avLst/>
          </a:prstGeom>
          <a:solidFill>
            <a:srgbClr val="D64545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3154680" y="2615184"/>
            <a:ext cx="8458200" cy="0"/>
          </a:xfrm>
          <a:prstGeom prst="line">
            <a:avLst/>
          </a:prstGeom>
          <a:noFill/>
          <a:ln w="9525">
            <a:solidFill>
              <a:srgbClr val="D5DDE8"/>
            </a:solidFill>
            <a:prstDash val="solid"/>
          </a:ln>
        </p:spPr>
      </p:sp>
      <p:sp>
        <p:nvSpPr>
          <p:cNvPr id="32" name="Text 30"/>
          <p:cNvSpPr txBox="1"/>
          <p:nvPr/>
        </p:nvSpPr>
        <p:spPr>
          <a:xfrm>
            <a:off x="3200400" y="2615184"/>
            <a:ext cx="5029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chemeClr val="tx1"/>
                </a:solidFill>
              </a:rPr>
              <a:t>Send financial documents to ABBY</a:t>
            </a:r>
            <a:endParaRPr lang="en-US" sz="1250" dirty="0"/>
          </a:p>
        </p:txBody>
      </p:sp>
      <p:sp>
        <p:nvSpPr>
          <p:cNvPr id="33" name="Text 31"/>
          <p:cNvSpPr txBox="1"/>
          <p:nvPr/>
        </p:nvSpPr>
        <p:spPr>
          <a:xfrm>
            <a:off x="8275320" y="2615184"/>
            <a:ext cx="822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chemeClr val="accent6"/>
                </a:solidFill>
              </a:rPr>
              <a:t>XXXX</a:t>
            </a:r>
            <a:endParaRPr lang="en-US" sz="1100" dirty="0"/>
          </a:p>
        </p:txBody>
      </p:sp>
      <p:sp>
        <p:nvSpPr>
          <p:cNvPr id="34" name="Shape 32"/>
          <p:cNvSpPr/>
          <p:nvPr/>
        </p:nvSpPr>
        <p:spPr>
          <a:xfrm>
            <a:off x="9619488" y="2724912"/>
            <a:ext cx="237744" cy="237744"/>
          </a:xfrm>
          <a:prstGeom prst="ellipse">
            <a:avLst/>
          </a:prstGeom>
          <a:solidFill>
            <a:srgbClr val="2E9E44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10442448" y="2724912"/>
            <a:ext cx="237744" cy="237744"/>
          </a:xfrm>
          <a:prstGeom prst="ellipse">
            <a:avLst/>
          </a:prstGeom>
          <a:solidFill>
            <a:srgbClr val="D64545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11265408" y="2724912"/>
            <a:ext cx="237744" cy="237744"/>
          </a:xfrm>
          <a:prstGeom prst="ellipse">
            <a:avLst/>
          </a:prstGeom>
          <a:solidFill>
            <a:srgbClr val="D64545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3154680" y="3072384"/>
            <a:ext cx="8458200" cy="0"/>
          </a:xfrm>
          <a:prstGeom prst="line">
            <a:avLst/>
          </a:prstGeom>
          <a:noFill/>
          <a:ln w="9525">
            <a:solidFill>
              <a:srgbClr val="D5DDE8"/>
            </a:solidFill>
            <a:prstDash val="solid"/>
          </a:ln>
        </p:spPr>
      </p:sp>
      <p:sp>
        <p:nvSpPr>
          <p:cNvPr id="38" name="Text 36"/>
          <p:cNvSpPr txBox="1"/>
          <p:nvPr/>
        </p:nvSpPr>
        <p:spPr>
          <a:xfrm>
            <a:off x="3200400" y="3072384"/>
            <a:ext cx="5029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chemeClr val="tx1"/>
                </a:solidFill>
              </a:rPr>
              <a:t>Get financial extraction result</a:t>
            </a:r>
            <a:endParaRPr lang="en-US" sz="1250" dirty="0"/>
          </a:p>
        </p:txBody>
      </p:sp>
      <p:sp>
        <p:nvSpPr>
          <p:cNvPr id="39" name="Text 37"/>
          <p:cNvSpPr txBox="1"/>
          <p:nvPr/>
        </p:nvSpPr>
        <p:spPr>
          <a:xfrm>
            <a:off x="8275320" y="3072384"/>
            <a:ext cx="822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chemeClr val="accent6"/>
                </a:solidFill>
              </a:rPr>
              <a:t>XXXX</a:t>
            </a:r>
            <a:endParaRPr lang="en-US" sz="1100" dirty="0"/>
          </a:p>
        </p:txBody>
      </p:sp>
      <p:sp>
        <p:nvSpPr>
          <p:cNvPr id="40" name="Shape 38"/>
          <p:cNvSpPr/>
          <p:nvPr/>
        </p:nvSpPr>
        <p:spPr>
          <a:xfrm>
            <a:off x="9619488" y="3182112"/>
            <a:ext cx="237744" cy="237744"/>
          </a:xfrm>
          <a:prstGeom prst="ellipse">
            <a:avLst/>
          </a:prstGeom>
          <a:solidFill>
            <a:srgbClr val="2E9E44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10442448" y="3182112"/>
            <a:ext cx="237744" cy="237744"/>
          </a:xfrm>
          <a:prstGeom prst="ellipse">
            <a:avLst/>
          </a:prstGeom>
          <a:solidFill>
            <a:srgbClr val="F2A33A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11265408" y="3182112"/>
            <a:ext cx="237744" cy="237744"/>
          </a:xfrm>
          <a:prstGeom prst="ellipse">
            <a:avLst/>
          </a:prstGeom>
          <a:solidFill>
            <a:srgbClr val="D64545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3154680" y="3529584"/>
            <a:ext cx="8458200" cy="0"/>
          </a:xfrm>
          <a:prstGeom prst="line">
            <a:avLst/>
          </a:prstGeom>
          <a:noFill/>
          <a:ln w="9525">
            <a:solidFill>
              <a:srgbClr val="D5DDE8"/>
            </a:solidFill>
            <a:prstDash val="solid"/>
          </a:ln>
        </p:spPr>
      </p:sp>
      <p:sp>
        <p:nvSpPr>
          <p:cNvPr id="44" name="Text 42"/>
          <p:cNvSpPr txBox="1"/>
          <p:nvPr/>
        </p:nvSpPr>
        <p:spPr>
          <a:xfrm>
            <a:off x="3200400" y="3529584"/>
            <a:ext cx="5029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chemeClr val="tx1"/>
                </a:solidFill>
              </a:rPr>
              <a:t>Get extraction status progress</a:t>
            </a:r>
            <a:endParaRPr lang="en-US" sz="1250" dirty="0"/>
          </a:p>
        </p:txBody>
      </p:sp>
      <p:sp>
        <p:nvSpPr>
          <p:cNvPr id="45" name="Text 43"/>
          <p:cNvSpPr txBox="1"/>
          <p:nvPr/>
        </p:nvSpPr>
        <p:spPr>
          <a:xfrm>
            <a:off x="8275320" y="3529584"/>
            <a:ext cx="822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chemeClr val="accent6"/>
                </a:solidFill>
              </a:rPr>
              <a:t>XXXX</a:t>
            </a:r>
            <a:endParaRPr lang="en-US" sz="1100" dirty="0"/>
          </a:p>
        </p:txBody>
      </p:sp>
      <p:sp>
        <p:nvSpPr>
          <p:cNvPr id="46" name="Shape 44"/>
          <p:cNvSpPr/>
          <p:nvPr/>
        </p:nvSpPr>
        <p:spPr>
          <a:xfrm>
            <a:off x="9619488" y="3639312"/>
            <a:ext cx="237744" cy="237744"/>
          </a:xfrm>
          <a:prstGeom prst="ellipse">
            <a:avLst/>
          </a:prstGeom>
          <a:solidFill>
            <a:srgbClr val="B8C2D0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47" name="Shape 45"/>
          <p:cNvSpPr/>
          <p:nvPr/>
        </p:nvSpPr>
        <p:spPr>
          <a:xfrm>
            <a:off x="10442448" y="3639312"/>
            <a:ext cx="237744" cy="237744"/>
          </a:xfrm>
          <a:prstGeom prst="ellipse">
            <a:avLst/>
          </a:prstGeom>
          <a:solidFill>
            <a:srgbClr val="B8C2D0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48" name="Shape 46"/>
          <p:cNvSpPr/>
          <p:nvPr/>
        </p:nvSpPr>
        <p:spPr>
          <a:xfrm>
            <a:off x="11265408" y="3639312"/>
            <a:ext cx="237744" cy="237744"/>
          </a:xfrm>
          <a:prstGeom prst="ellipse">
            <a:avLst/>
          </a:prstGeom>
          <a:solidFill>
            <a:srgbClr val="B8C2D0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49" name="Shape 47"/>
          <p:cNvSpPr/>
          <p:nvPr/>
        </p:nvSpPr>
        <p:spPr>
          <a:xfrm>
            <a:off x="3154680" y="3986784"/>
            <a:ext cx="8458200" cy="0"/>
          </a:xfrm>
          <a:prstGeom prst="line">
            <a:avLst/>
          </a:prstGeom>
          <a:noFill/>
          <a:ln w="9525">
            <a:solidFill>
              <a:srgbClr val="D5DDE8"/>
            </a:solidFill>
            <a:prstDash val="solid"/>
          </a:ln>
        </p:spPr>
      </p:sp>
      <p:sp>
        <p:nvSpPr>
          <p:cNvPr id="50" name="Text 48"/>
          <p:cNvSpPr txBox="1"/>
          <p:nvPr/>
        </p:nvSpPr>
        <p:spPr>
          <a:xfrm>
            <a:off x="3200400" y="3986784"/>
            <a:ext cx="5029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chemeClr val="tx1"/>
                </a:solidFill>
              </a:rPr>
              <a:t>Implementation of data extraction workflow</a:t>
            </a:r>
            <a:endParaRPr lang="en-US" sz="1250" dirty="0"/>
          </a:p>
        </p:txBody>
      </p:sp>
      <p:sp>
        <p:nvSpPr>
          <p:cNvPr id="51" name="Text 49"/>
          <p:cNvSpPr txBox="1"/>
          <p:nvPr/>
        </p:nvSpPr>
        <p:spPr>
          <a:xfrm>
            <a:off x="8275320" y="3986784"/>
            <a:ext cx="822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chemeClr val="accent6"/>
                </a:solidFill>
              </a:rPr>
              <a:t>XXXX</a:t>
            </a:r>
            <a:endParaRPr lang="en-US" sz="1100" dirty="0"/>
          </a:p>
        </p:txBody>
      </p:sp>
      <p:sp>
        <p:nvSpPr>
          <p:cNvPr id="52" name="Shape 50"/>
          <p:cNvSpPr/>
          <p:nvPr/>
        </p:nvSpPr>
        <p:spPr>
          <a:xfrm>
            <a:off x="9619488" y="4096512"/>
            <a:ext cx="237744" cy="237744"/>
          </a:xfrm>
          <a:prstGeom prst="ellipse">
            <a:avLst/>
          </a:prstGeom>
          <a:solidFill>
            <a:srgbClr val="2E9E44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53" name="Shape 51"/>
          <p:cNvSpPr/>
          <p:nvPr/>
        </p:nvSpPr>
        <p:spPr>
          <a:xfrm>
            <a:off x="10442448" y="4096512"/>
            <a:ext cx="237744" cy="237744"/>
          </a:xfrm>
          <a:prstGeom prst="ellipse">
            <a:avLst/>
          </a:prstGeom>
          <a:solidFill>
            <a:srgbClr val="2E9E44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54" name="Shape 52"/>
          <p:cNvSpPr/>
          <p:nvPr/>
        </p:nvSpPr>
        <p:spPr>
          <a:xfrm>
            <a:off x="11265408" y="4096512"/>
            <a:ext cx="237744" cy="237744"/>
          </a:xfrm>
          <a:prstGeom prst="ellipse">
            <a:avLst/>
          </a:prstGeom>
          <a:solidFill>
            <a:srgbClr val="D64545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55" name="Shape 53"/>
          <p:cNvSpPr/>
          <p:nvPr/>
        </p:nvSpPr>
        <p:spPr>
          <a:xfrm>
            <a:off x="3154680" y="4443984"/>
            <a:ext cx="8458200" cy="0"/>
          </a:xfrm>
          <a:prstGeom prst="line">
            <a:avLst/>
          </a:prstGeom>
          <a:noFill/>
          <a:ln w="9525">
            <a:solidFill>
              <a:srgbClr val="D5DDE8"/>
            </a:solidFill>
            <a:prstDash val="solid"/>
          </a:ln>
        </p:spPr>
      </p:sp>
      <p:sp>
        <p:nvSpPr>
          <p:cNvPr id="56" name="Text 54"/>
          <p:cNvSpPr txBox="1"/>
          <p:nvPr/>
        </p:nvSpPr>
        <p:spPr>
          <a:xfrm>
            <a:off x="3200400" y="4443984"/>
            <a:ext cx="5029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chemeClr val="tx1"/>
                </a:solidFill>
              </a:rPr>
              <a:t>Duplicated codes managing rule</a:t>
            </a:r>
            <a:endParaRPr lang="en-US" sz="1250" dirty="0"/>
          </a:p>
        </p:txBody>
      </p:sp>
      <p:sp>
        <p:nvSpPr>
          <p:cNvPr id="57" name="Text 55"/>
          <p:cNvSpPr txBox="1"/>
          <p:nvPr/>
        </p:nvSpPr>
        <p:spPr>
          <a:xfrm>
            <a:off x="8275320" y="4443984"/>
            <a:ext cx="822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chemeClr val="accent6"/>
                </a:solidFill>
              </a:rPr>
              <a:t>XXXX</a:t>
            </a:r>
            <a:endParaRPr lang="en-US" sz="1100" dirty="0"/>
          </a:p>
        </p:txBody>
      </p:sp>
      <p:sp>
        <p:nvSpPr>
          <p:cNvPr id="58" name="Shape 56"/>
          <p:cNvSpPr/>
          <p:nvPr/>
        </p:nvSpPr>
        <p:spPr>
          <a:xfrm>
            <a:off x="9619488" y="4553712"/>
            <a:ext cx="237744" cy="237744"/>
          </a:xfrm>
          <a:prstGeom prst="ellipse">
            <a:avLst/>
          </a:prstGeom>
          <a:solidFill>
            <a:srgbClr val="2E9E44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59" name="Shape 57"/>
          <p:cNvSpPr/>
          <p:nvPr/>
        </p:nvSpPr>
        <p:spPr>
          <a:xfrm>
            <a:off x="10442448" y="4553712"/>
            <a:ext cx="237744" cy="237744"/>
          </a:xfrm>
          <a:prstGeom prst="ellipse">
            <a:avLst/>
          </a:prstGeom>
          <a:solidFill>
            <a:srgbClr val="2E9E44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60" name="Shape 58"/>
          <p:cNvSpPr/>
          <p:nvPr/>
        </p:nvSpPr>
        <p:spPr>
          <a:xfrm>
            <a:off x="11265408" y="4553712"/>
            <a:ext cx="237744" cy="237744"/>
          </a:xfrm>
          <a:prstGeom prst="ellipse">
            <a:avLst/>
          </a:prstGeom>
          <a:solidFill>
            <a:srgbClr val="D64545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61" name="Shape 59"/>
          <p:cNvSpPr/>
          <p:nvPr/>
        </p:nvSpPr>
        <p:spPr>
          <a:xfrm>
            <a:off x="457200" y="5047488"/>
            <a:ext cx="11274552" cy="530352"/>
          </a:xfrm>
          <a:prstGeom prst="roundRect">
            <a:avLst>
              <a:gd name="adj" fmla="val 13793"/>
            </a:avLst>
          </a:prstGeom>
          <a:solidFill>
            <a:schemeClr val="bg2"/>
          </a:solidFill>
          <a:ln/>
        </p:spPr>
      </p:sp>
      <p:sp>
        <p:nvSpPr>
          <p:cNvPr id="62" name="Shape 60"/>
          <p:cNvSpPr/>
          <p:nvPr/>
        </p:nvSpPr>
        <p:spPr>
          <a:xfrm>
            <a:off x="457200" y="5047488"/>
            <a:ext cx="2514600" cy="530352"/>
          </a:xfrm>
          <a:prstGeom prst="roundRect">
            <a:avLst>
              <a:gd name="adj" fmla="val 13793"/>
            </a:avLst>
          </a:prstGeom>
          <a:solidFill>
            <a:schemeClr val="tx1"/>
          </a:solidFill>
          <a:ln/>
        </p:spPr>
      </p:sp>
      <p:sp>
        <p:nvSpPr>
          <p:cNvPr id="63" name="Text 61"/>
          <p:cNvSpPr txBox="1"/>
          <p:nvPr/>
        </p:nvSpPr>
        <p:spPr>
          <a:xfrm>
            <a:off x="603504" y="5047488"/>
            <a:ext cx="22402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chemeClr val="bg1"/>
                </a:solidFill>
              </a:rPr>
              <a:t>Communication between DataCapture and Algo</a:t>
            </a:r>
            <a:endParaRPr lang="en-US" sz="1100" dirty="0"/>
          </a:p>
        </p:txBody>
      </p:sp>
      <p:sp>
        <p:nvSpPr>
          <p:cNvPr id="64" name="Text 62"/>
          <p:cNvSpPr txBox="1"/>
          <p:nvPr/>
        </p:nvSpPr>
        <p:spPr>
          <a:xfrm>
            <a:off x="3200400" y="5084064"/>
            <a:ext cx="5029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chemeClr val="tx1"/>
                </a:solidFill>
              </a:rPr>
              <a:t>API for communication between Algo and DataCapture</a:t>
            </a:r>
            <a:endParaRPr lang="en-US" sz="1250" dirty="0"/>
          </a:p>
        </p:txBody>
      </p:sp>
      <p:sp>
        <p:nvSpPr>
          <p:cNvPr id="65" name="Text 63"/>
          <p:cNvSpPr txBox="1"/>
          <p:nvPr/>
        </p:nvSpPr>
        <p:spPr>
          <a:xfrm>
            <a:off x="8275320" y="5084064"/>
            <a:ext cx="822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chemeClr val="accent6"/>
                </a:solidFill>
              </a:rPr>
              <a:t>XXXX</a:t>
            </a:r>
            <a:endParaRPr lang="en-US" sz="1100" dirty="0"/>
          </a:p>
        </p:txBody>
      </p:sp>
      <p:sp>
        <p:nvSpPr>
          <p:cNvPr id="66" name="Shape 64"/>
          <p:cNvSpPr/>
          <p:nvPr/>
        </p:nvSpPr>
        <p:spPr>
          <a:xfrm>
            <a:off x="9619488" y="5193792"/>
            <a:ext cx="237744" cy="237744"/>
          </a:xfrm>
          <a:prstGeom prst="ellipse">
            <a:avLst/>
          </a:prstGeom>
          <a:solidFill>
            <a:srgbClr val="2E9E44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67" name="Shape 65"/>
          <p:cNvSpPr/>
          <p:nvPr/>
        </p:nvSpPr>
        <p:spPr>
          <a:xfrm>
            <a:off x="10442448" y="5193792"/>
            <a:ext cx="237744" cy="237744"/>
          </a:xfrm>
          <a:prstGeom prst="ellipse">
            <a:avLst/>
          </a:prstGeom>
          <a:solidFill>
            <a:srgbClr val="2E9E44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68" name="Shape 66"/>
          <p:cNvSpPr/>
          <p:nvPr/>
        </p:nvSpPr>
        <p:spPr>
          <a:xfrm>
            <a:off x="11265408" y="5193792"/>
            <a:ext cx="237744" cy="237744"/>
          </a:xfrm>
          <a:prstGeom prst="ellipse">
            <a:avLst/>
          </a:prstGeom>
          <a:solidFill>
            <a:srgbClr val="2E9E44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69" name="Shape 67"/>
          <p:cNvSpPr/>
          <p:nvPr/>
        </p:nvSpPr>
        <p:spPr>
          <a:xfrm>
            <a:off x="457200" y="5687568"/>
            <a:ext cx="11274552" cy="530352"/>
          </a:xfrm>
          <a:prstGeom prst="roundRect">
            <a:avLst>
              <a:gd name="adj" fmla="val 13793"/>
            </a:avLst>
          </a:prstGeom>
          <a:solidFill>
            <a:schemeClr val="bg2"/>
          </a:solidFill>
          <a:ln/>
        </p:spPr>
      </p:sp>
      <p:sp>
        <p:nvSpPr>
          <p:cNvPr id="70" name="Shape 68"/>
          <p:cNvSpPr/>
          <p:nvPr/>
        </p:nvSpPr>
        <p:spPr>
          <a:xfrm>
            <a:off x="457200" y="5687568"/>
            <a:ext cx="2514600" cy="530352"/>
          </a:xfrm>
          <a:prstGeom prst="roundRect">
            <a:avLst>
              <a:gd name="adj" fmla="val 13793"/>
            </a:avLst>
          </a:prstGeom>
          <a:solidFill>
            <a:schemeClr val="tx1"/>
          </a:solidFill>
          <a:ln/>
        </p:spPr>
      </p:sp>
      <p:sp>
        <p:nvSpPr>
          <p:cNvPr id="71" name="Text 69"/>
          <p:cNvSpPr txBox="1"/>
          <p:nvPr/>
        </p:nvSpPr>
        <p:spPr>
          <a:xfrm>
            <a:off x="603504" y="5687568"/>
            <a:ext cx="22402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chemeClr val="bg1"/>
                </a:solidFill>
              </a:rPr>
              <a:t>Transverse technical</a:t>
            </a:r>
            <a:endParaRPr lang="en-US" sz="1100" dirty="0"/>
          </a:p>
        </p:txBody>
      </p:sp>
      <p:sp>
        <p:nvSpPr>
          <p:cNvPr id="72" name="Text 70"/>
          <p:cNvSpPr txBox="1"/>
          <p:nvPr/>
        </p:nvSpPr>
        <p:spPr>
          <a:xfrm>
            <a:off x="3200400" y="5724144"/>
            <a:ext cx="5029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chemeClr val="tx1"/>
                </a:solidFill>
              </a:rPr>
              <a:t>Design the database structure</a:t>
            </a:r>
            <a:endParaRPr lang="en-US" sz="1250" dirty="0"/>
          </a:p>
        </p:txBody>
      </p:sp>
      <p:sp>
        <p:nvSpPr>
          <p:cNvPr id="73" name="Text 71"/>
          <p:cNvSpPr txBox="1"/>
          <p:nvPr/>
        </p:nvSpPr>
        <p:spPr>
          <a:xfrm>
            <a:off x="8275320" y="5724144"/>
            <a:ext cx="822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chemeClr val="accent6"/>
                </a:solidFill>
              </a:rPr>
              <a:t>XXXX</a:t>
            </a:r>
            <a:endParaRPr lang="en-US" sz="1100" dirty="0"/>
          </a:p>
        </p:txBody>
      </p:sp>
      <p:sp>
        <p:nvSpPr>
          <p:cNvPr id="74" name="Shape 72"/>
          <p:cNvSpPr/>
          <p:nvPr/>
        </p:nvSpPr>
        <p:spPr>
          <a:xfrm>
            <a:off x="9619488" y="5833872"/>
            <a:ext cx="237744" cy="237744"/>
          </a:xfrm>
          <a:prstGeom prst="ellipse">
            <a:avLst/>
          </a:prstGeom>
          <a:solidFill>
            <a:srgbClr val="2E9E44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75" name="Shape 73"/>
          <p:cNvSpPr/>
          <p:nvPr/>
        </p:nvSpPr>
        <p:spPr>
          <a:xfrm>
            <a:off x="10442448" y="5833872"/>
            <a:ext cx="237744" cy="237744"/>
          </a:xfrm>
          <a:prstGeom prst="ellipse">
            <a:avLst/>
          </a:prstGeom>
          <a:solidFill>
            <a:srgbClr val="2E9E44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76" name="Shape 74"/>
          <p:cNvSpPr/>
          <p:nvPr/>
        </p:nvSpPr>
        <p:spPr>
          <a:xfrm>
            <a:off x="11265408" y="5833872"/>
            <a:ext cx="237744" cy="237744"/>
          </a:xfrm>
          <a:prstGeom prst="ellipse">
            <a:avLst/>
          </a:prstGeom>
          <a:solidFill>
            <a:srgbClr val="2E9E44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74552" y="6473952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320040"/>
            <a:ext cx="112471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1"/>
                </a:solidFill>
              </a:rPr>
              <a:t>Status board — Communication with Finstar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457200" y="1161288"/>
            <a:ext cx="182880" cy="182880"/>
          </a:xfrm>
          <a:prstGeom prst="ellipse">
            <a:avLst/>
          </a:prstGeom>
          <a:solidFill>
            <a:srgbClr val="2E9E44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713232" y="1115568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chemeClr val="accent6"/>
                </a:solidFill>
              </a:rPr>
              <a:t>Done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1783080" y="1161288"/>
            <a:ext cx="182880" cy="182880"/>
          </a:xfrm>
          <a:prstGeom prst="ellipse">
            <a:avLst/>
          </a:prstGeom>
          <a:solidFill>
            <a:srgbClr val="F2A33A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2039112" y="1115568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chemeClr val="accent6"/>
                </a:solidFill>
              </a:rPr>
              <a:t>In progress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3108960" y="1161288"/>
            <a:ext cx="182880" cy="182880"/>
          </a:xfrm>
          <a:prstGeom prst="ellipse">
            <a:avLst/>
          </a:prstGeom>
          <a:solidFill>
            <a:srgbClr val="D64545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3364992" y="1115568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chemeClr val="accent6"/>
                </a:solidFill>
              </a:rPr>
              <a:t>Not started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4434840" y="1161288"/>
            <a:ext cx="182880" cy="182880"/>
          </a:xfrm>
          <a:prstGeom prst="ellipse">
            <a:avLst/>
          </a:prstGeom>
          <a:solidFill>
            <a:srgbClr val="B8C2D0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4690872" y="1115568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chemeClr val="accent6"/>
                </a:solidFill>
              </a:rPr>
              <a:t>Status not provided</a:t>
            </a:r>
            <a:endParaRPr lang="en-US" sz="1000" dirty="0"/>
          </a:p>
        </p:txBody>
      </p:sp>
      <p:sp>
        <p:nvSpPr>
          <p:cNvPr id="11" name="Text 9"/>
          <p:cNvSpPr txBox="1"/>
          <p:nvPr/>
        </p:nvSpPr>
        <p:spPr>
          <a:xfrm>
            <a:off x="8275320" y="1115568"/>
            <a:ext cx="822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tx2"/>
                </a:solidFill>
              </a:rPr>
              <a:t>Jira</a:t>
            </a:r>
            <a:endParaRPr lang="en-US" sz="1200" dirty="0"/>
          </a:p>
        </p:txBody>
      </p:sp>
      <p:sp>
        <p:nvSpPr>
          <p:cNvPr id="12" name="Text 10"/>
          <p:cNvSpPr txBox="1"/>
          <p:nvPr/>
        </p:nvSpPr>
        <p:spPr>
          <a:xfrm>
            <a:off x="9326880" y="1115568"/>
            <a:ext cx="822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tx2"/>
                </a:solidFill>
              </a:rPr>
              <a:t>Spec</a:t>
            </a:r>
            <a:endParaRPr lang="en-US" sz="1200" dirty="0"/>
          </a:p>
        </p:txBody>
      </p:sp>
      <p:sp>
        <p:nvSpPr>
          <p:cNvPr id="13" name="Text 11"/>
          <p:cNvSpPr txBox="1"/>
          <p:nvPr/>
        </p:nvSpPr>
        <p:spPr>
          <a:xfrm>
            <a:off x="10149840" y="1115568"/>
            <a:ext cx="822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tx2"/>
                </a:solidFill>
              </a:rPr>
              <a:t>Dev</a:t>
            </a:r>
            <a:endParaRPr lang="en-US" sz="1200" dirty="0"/>
          </a:p>
        </p:txBody>
      </p:sp>
      <p:sp>
        <p:nvSpPr>
          <p:cNvPr id="14" name="Text 12"/>
          <p:cNvSpPr txBox="1"/>
          <p:nvPr/>
        </p:nvSpPr>
        <p:spPr>
          <a:xfrm>
            <a:off x="10972800" y="1115568"/>
            <a:ext cx="822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tx2"/>
                </a:solidFill>
              </a:rPr>
              <a:t>Test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457200" y="1481328"/>
            <a:ext cx="11274552" cy="4187952"/>
          </a:xfrm>
          <a:prstGeom prst="roundRect">
            <a:avLst>
              <a:gd name="adj" fmla="val 1747"/>
            </a:avLst>
          </a:prstGeom>
          <a:solidFill>
            <a:schemeClr val="bg2"/>
          </a:solidFill>
          <a:ln/>
        </p:spPr>
      </p:sp>
      <p:sp>
        <p:nvSpPr>
          <p:cNvPr id="16" name="Shape 14"/>
          <p:cNvSpPr/>
          <p:nvPr/>
        </p:nvSpPr>
        <p:spPr>
          <a:xfrm>
            <a:off x="457200" y="1481328"/>
            <a:ext cx="2514600" cy="4187952"/>
          </a:xfrm>
          <a:prstGeom prst="roundRect">
            <a:avLst>
              <a:gd name="adj" fmla="val 2909"/>
            </a:avLst>
          </a:prstGeom>
          <a:solidFill>
            <a:schemeClr val="tx1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603504" y="1481328"/>
            <a:ext cx="2240280" cy="41879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Communication between DataCapture and Finstar</a:t>
            </a:r>
            <a:endParaRPr lang="en-US" sz="1300" dirty="0"/>
          </a:p>
        </p:txBody>
      </p:sp>
      <p:sp>
        <p:nvSpPr>
          <p:cNvPr id="18" name="Text 16"/>
          <p:cNvSpPr txBox="1"/>
          <p:nvPr/>
        </p:nvSpPr>
        <p:spPr>
          <a:xfrm>
            <a:off x="3200400" y="1517904"/>
            <a:ext cx="5029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chemeClr val="tx1"/>
                </a:solidFill>
              </a:rPr>
              <a:t>Extract Status API</a:t>
            </a:r>
            <a:endParaRPr lang="en-US" sz="1250" dirty="0"/>
          </a:p>
        </p:txBody>
      </p:sp>
      <p:sp>
        <p:nvSpPr>
          <p:cNvPr id="19" name="Text 17"/>
          <p:cNvSpPr txBox="1"/>
          <p:nvPr/>
        </p:nvSpPr>
        <p:spPr>
          <a:xfrm>
            <a:off x="8275320" y="1517904"/>
            <a:ext cx="822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chemeClr val="accent6"/>
                </a:solidFill>
              </a:rPr>
              <a:t>XXXX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9619488" y="1627632"/>
            <a:ext cx="237744" cy="237744"/>
          </a:xfrm>
          <a:prstGeom prst="ellipse">
            <a:avLst/>
          </a:prstGeom>
          <a:solidFill>
            <a:srgbClr val="2E9E44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10442448" y="1627632"/>
            <a:ext cx="237744" cy="237744"/>
          </a:xfrm>
          <a:prstGeom prst="ellipse">
            <a:avLst/>
          </a:prstGeom>
          <a:solidFill>
            <a:srgbClr val="2E9E44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11265408" y="1627632"/>
            <a:ext cx="237744" cy="237744"/>
          </a:xfrm>
          <a:prstGeom prst="ellipse">
            <a:avLst/>
          </a:prstGeom>
          <a:solidFill>
            <a:srgbClr val="D64545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3154680" y="1975104"/>
            <a:ext cx="8458200" cy="0"/>
          </a:xfrm>
          <a:prstGeom prst="line">
            <a:avLst/>
          </a:prstGeom>
          <a:noFill/>
          <a:ln w="9525">
            <a:solidFill>
              <a:srgbClr val="D5DDE8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3200400" y="1975104"/>
            <a:ext cx="5029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chemeClr val="tx1"/>
                </a:solidFill>
              </a:rPr>
              <a:t>Send results to Finstar</a:t>
            </a:r>
            <a:endParaRPr lang="en-US" sz="1250" dirty="0"/>
          </a:p>
        </p:txBody>
      </p:sp>
      <p:sp>
        <p:nvSpPr>
          <p:cNvPr id="25" name="Text 23"/>
          <p:cNvSpPr txBox="1"/>
          <p:nvPr/>
        </p:nvSpPr>
        <p:spPr>
          <a:xfrm>
            <a:off x="8275320" y="1975104"/>
            <a:ext cx="822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chemeClr val="accent6"/>
                </a:solidFill>
              </a:rPr>
              <a:t>XXXX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9619488" y="2084832"/>
            <a:ext cx="237744" cy="237744"/>
          </a:xfrm>
          <a:prstGeom prst="ellipse">
            <a:avLst/>
          </a:prstGeom>
          <a:solidFill>
            <a:srgbClr val="2E9E44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10442448" y="2084832"/>
            <a:ext cx="237744" cy="237744"/>
          </a:xfrm>
          <a:prstGeom prst="ellipse">
            <a:avLst/>
          </a:prstGeom>
          <a:solidFill>
            <a:srgbClr val="2E9E44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11265408" y="2084832"/>
            <a:ext cx="237744" cy="237744"/>
          </a:xfrm>
          <a:prstGeom prst="ellipse">
            <a:avLst/>
          </a:prstGeom>
          <a:solidFill>
            <a:srgbClr val="D64545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3154680" y="2432304"/>
            <a:ext cx="8458200" cy="0"/>
          </a:xfrm>
          <a:prstGeom prst="line">
            <a:avLst/>
          </a:prstGeom>
          <a:noFill/>
          <a:ln w="9525">
            <a:solidFill>
              <a:srgbClr val="D5DDE8"/>
            </a:solidFill>
            <a:prstDash val="solid"/>
          </a:ln>
        </p:spPr>
      </p:sp>
      <p:sp>
        <p:nvSpPr>
          <p:cNvPr id="30" name="Text 28"/>
          <p:cNvSpPr txBox="1"/>
          <p:nvPr/>
        </p:nvSpPr>
        <p:spPr>
          <a:xfrm>
            <a:off x="3200400" y="2432304"/>
            <a:ext cx="5029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chemeClr val="tx1"/>
                </a:solidFill>
              </a:rPr>
              <a:t>Creation &amp; implementation of upload API – SAFIR documents</a:t>
            </a:r>
            <a:endParaRPr lang="en-US" sz="1250" dirty="0"/>
          </a:p>
        </p:txBody>
      </p:sp>
      <p:sp>
        <p:nvSpPr>
          <p:cNvPr id="31" name="Text 29"/>
          <p:cNvSpPr txBox="1"/>
          <p:nvPr/>
        </p:nvSpPr>
        <p:spPr>
          <a:xfrm>
            <a:off x="8275320" y="2432304"/>
            <a:ext cx="822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chemeClr val="accent6"/>
                </a:solidFill>
              </a:rPr>
              <a:t>XXXX</a:t>
            </a:r>
            <a:endParaRPr lang="en-US" sz="1100" dirty="0"/>
          </a:p>
        </p:txBody>
      </p:sp>
      <p:sp>
        <p:nvSpPr>
          <p:cNvPr id="32" name="Shape 30"/>
          <p:cNvSpPr/>
          <p:nvPr/>
        </p:nvSpPr>
        <p:spPr>
          <a:xfrm>
            <a:off x="9619488" y="2542032"/>
            <a:ext cx="237744" cy="237744"/>
          </a:xfrm>
          <a:prstGeom prst="ellipse">
            <a:avLst/>
          </a:prstGeom>
          <a:solidFill>
            <a:srgbClr val="2E9E44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10442448" y="2542032"/>
            <a:ext cx="237744" cy="237744"/>
          </a:xfrm>
          <a:prstGeom prst="ellipse">
            <a:avLst/>
          </a:prstGeom>
          <a:solidFill>
            <a:srgbClr val="2E9E44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11265408" y="2542032"/>
            <a:ext cx="237744" cy="237744"/>
          </a:xfrm>
          <a:prstGeom prst="ellipse">
            <a:avLst/>
          </a:prstGeom>
          <a:solidFill>
            <a:srgbClr val="D64545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3154680" y="2889504"/>
            <a:ext cx="8458200" cy="0"/>
          </a:xfrm>
          <a:prstGeom prst="line">
            <a:avLst/>
          </a:prstGeom>
          <a:noFill/>
          <a:ln w="9525">
            <a:solidFill>
              <a:srgbClr val="D5DDE8"/>
            </a:solidFill>
            <a:prstDash val="solid"/>
          </a:ln>
        </p:spPr>
      </p:sp>
      <p:sp>
        <p:nvSpPr>
          <p:cNvPr id="36" name="Text 34"/>
          <p:cNvSpPr txBox="1"/>
          <p:nvPr/>
        </p:nvSpPr>
        <p:spPr>
          <a:xfrm>
            <a:off x="3200400" y="2889504"/>
            <a:ext cx="5029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chemeClr val="tx1"/>
                </a:solidFill>
              </a:rPr>
              <a:t>Rejection codes to communicate with Finstar</a:t>
            </a:r>
            <a:endParaRPr lang="en-US" sz="1250" dirty="0"/>
          </a:p>
        </p:txBody>
      </p:sp>
      <p:sp>
        <p:nvSpPr>
          <p:cNvPr id="37" name="Text 35"/>
          <p:cNvSpPr txBox="1"/>
          <p:nvPr/>
        </p:nvSpPr>
        <p:spPr>
          <a:xfrm>
            <a:off x="8275320" y="2889504"/>
            <a:ext cx="822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chemeClr val="accent6"/>
                </a:solidFill>
              </a:rPr>
              <a:t>XXXX</a:t>
            </a:r>
            <a:endParaRPr lang="en-US" sz="1100" dirty="0"/>
          </a:p>
        </p:txBody>
      </p:sp>
      <p:sp>
        <p:nvSpPr>
          <p:cNvPr id="38" name="Shape 36"/>
          <p:cNvSpPr/>
          <p:nvPr/>
        </p:nvSpPr>
        <p:spPr>
          <a:xfrm>
            <a:off x="9619488" y="2999232"/>
            <a:ext cx="237744" cy="237744"/>
          </a:xfrm>
          <a:prstGeom prst="ellipse">
            <a:avLst/>
          </a:prstGeom>
          <a:solidFill>
            <a:srgbClr val="2E9E44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10442448" y="2999232"/>
            <a:ext cx="237744" cy="237744"/>
          </a:xfrm>
          <a:prstGeom prst="ellipse">
            <a:avLst/>
          </a:prstGeom>
          <a:solidFill>
            <a:srgbClr val="2E9E44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11265408" y="2999232"/>
            <a:ext cx="237744" cy="237744"/>
          </a:xfrm>
          <a:prstGeom prst="ellipse">
            <a:avLst/>
          </a:prstGeom>
          <a:solidFill>
            <a:srgbClr val="D64545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3154680" y="3346704"/>
            <a:ext cx="8458200" cy="0"/>
          </a:xfrm>
          <a:prstGeom prst="line">
            <a:avLst/>
          </a:prstGeom>
          <a:noFill/>
          <a:ln w="9525">
            <a:solidFill>
              <a:srgbClr val="D5DDE8"/>
            </a:solidFill>
            <a:prstDash val="solid"/>
          </a:ln>
        </p:spPr>
      </p:sp>
      <p:sp>
        <p:nvSpPr>
          <p:cNvPr id="42" name="Text 40"/>
          <p:cNvSpPr txBox="1"/>
          <p:nvPr/>
        </p:nvSpPr>
        <p:spPr>
          <a:xfrm>
            <a:off x="3200400" y="3346704"/>
            <a:ext cx="5029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chemeClr val="tx1"/>
                </a:solidFill>
              </a:rPr>
              <a:t>Include extraction source in result file</a:t>
            </a:r>
            <a:endParaRPr lang="en-US" sz="1250" dirty="0"/>
          </a:p>
        </p:txBody>
      </p:sp>
      <p:sp>
        <p:nvSpPr>
          <p:cNvPr id="43" name="Text 41"/>
          <p:cNvSpPr txBox="1"/>
          <p:nvPr/>
        </p:nvSpPr>
        <p:spPr>
          <a:xfrm>
            <a:off x="8275320" y="3346704"/>
            <a:ext cx="822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chemeClr val="accent6"/>
                </a:solidFill>
              </a:rPr>
              <a:t>XXXX</a:t>
            </a:r>
            <a:endParaRPr lang="en-US" sz="1100" dirty="0"/>
          </a:p>
        </p:txBody>
      </p:sp>
      <p:sp>
        <p:nvSpPr>
          <p:cNvPr id="44" name="Shape 42"/>
          <p:cNvSpPr/>
          <p:nvPr/>
        </p:nvSpPr>
        <p:spPr>
          <a:xfrm>
            <a:off x="9619488" y="3456432"/>
            <a:ext cx="237744" cy="237744"/>
          </a:xfrm>
          <a:prstGeom prst="ellipse">
            <a:avLst/>
          </a:prstGeom>
          <a:solidFill>
            <a:srgbClr val="2E9E44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45" name="Shape 43"/>
          <p:cNvSpPr/>
          <p:nvPr/>
        </p:nvSpPr>
        <p:spPr>
          <a:xfrm>
            <a:off x="10442448" y="3456432"/>
            <a:ext cx="237744" cy="237744"/>
          </a:xfrm>
          <a:prstGeom prst="ellipse">
            <a:avLst/>
          </a:prstGeom>
          <a:solidFill>
            <a:srgbClr val="2E9E44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46" name="Shape 44"/>
          <p:cNvSpPr/>
          <p:nvPr/>
        </p:nvSpPr>
        <p:spPr>
          <a:xfrm>
            <a:off x="11265408" y="3456432"/>
            <a:ext cx="237744" cy="237744"/>
          </a:xfrm>
          <a:prstGeom prst="ellipse">
            <a:avLst/>
          </a:prstGeom>
          <a:solidFill>
            <a:srgbClr val="D64545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47" name="Shape 45"/>
          <p:cNvSpPr/>
          <p:nvPr/>
        </p:nvSpPr>
        <p:spPr>
          <a:xfrm>
            <a:off x="3154680" y="3803904"/>
            <a:ext cx="8458200" cy="0"/>
          </a:xfrm>
          <a:prstGeom prst="line">
            <a:avLst/>
          </a:prstGeom>
          <a:noFill/>
          <a:ln w="9525">
            <a:solidFill>
              <a:srgbClr val="D5DDE8"/>
            </a:solidFill>
            <a:prstDash val="solid"/>
          </a:ln>
        </p:spPr>
      </p:sp>
      <p:sp>
        <p:nvSpPr>
          <p:cNvPr id="48" name="Text 46"/>
          <p:cNvSpPr txBox="1"/>
          <p:nvPr/>
        </p:nvSpPr>
        <p:spPr>
          <a:xfrm>
            <a:off x="3200400" y="3803904"/>
            <a:ext cx="5029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chemeClr val="tx1"/>
                </a:solidFill>
              </a:rPr>
              <a:t>Return standard JSON format results to Finstar</a:t>
            </a:r>
            <a:endParaRPr lang="en-US" sz="1250" dirty="0"/>
          </a:p>
        </p:txBody>
      </p:sp>
      <p:sp>
        <p:nvSpPr>
          <p:cNvPr id="49" name="Text 47"/>
          <p:cNvSpPr txBox="1"/>
          <p:nvPr/>
        </p:nvSpPr>
        <p:spPr>
          <a:xfrm>
            <a:off x="8275320" y="3803904"/>
            <a:ext cx="822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chemeClr val="accent6"/>
                </a:solidFill>
              </a:rPr>
              <a:t>XXXX</a:t>
            </a:r>
            <a:endParaRPr lang="en-US" sz="1100" dirty="0"/>
          </a:p>
        </p:txBody>
      </p:sp>
      <p:sp>
        <p:nvSpPr>
          <p:cNvPr id="50" name="Shape 48"/>
          <p:cNvSpPr/>
          <p:nvPr/>
        </p:nvSpPr>
        <p:spPr>
          <a:xfrm>
            <a:off x="9619488" y="3913632"/>
            <a:ext cx="237744" cy="237744"/>
          </a:xfrm>
          <a:prstGeom prst="ellipse">
            <a:avLst/>
          </a:prstGeom>
          <a:solidFill>
            <a:srgbClr val="2E9E44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51" name="Shape 49"/>
          <p:cNvSpPr/>
          <p:nvPr/>
        </p:nvSpPr>
        <p:spPr>
          <a:xfrm>
            <a:off x="10442448" y="3913632"/>
            <a:ext cx="237744" cy="237744"/>
          </a:xfrm>
          <a:prstGeom prst="ellipse">
            <a:avLst/>
          </a:prstGeom>
          <a:solidFill>
            <a:srgbClr val="2E9E44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52" name="Shape 50"/>
          <p:cNvSpPr/>
          <p:nvPr/>
        </p:nvSpPr>
        <p:spPr>
          <a:xfrm>
            <a:off x="11265408" y="3913632"/>
            <a:ext cx="237744" cy="237744"/>
          </a:xfrm>
          <a:prstGeom prst="ellipse">
            <a:avLst/>
          </a:prstGeom>
          <a:solidFill>
            <a:srgbClr val="D64545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53" name="Shape 51"/>
          <p:cNvSpPr/>
          <p:nvPr/>
        </p:nvSpPr>
        <p:spPr>
          <a:xfrm>
            <a:off x="3154680" y="4261104"/>
            <a:ext cx="8458200" cy="0"/>
          </a:xfrm>
          <a:prstGeom prst="line">
            <a:avLst/>
          </a:prstGeom>
          <a:noFill/>
          <a:ln w="9525">
            <a:solidFill>
              <a:srgbClr val="D5DDE8"/>
            </a:solidFill>
            <a:prstDash val="solid"/>
          </a:ln>
        </p:spPr>
      </p:sp>
      <p:sp>
        <p:nvSpPr>
          <p:cNvPr id="54" name="Text 52"/>
          <p:cNvSpPr txBox="1"/>
          <p:nvPr/>
        </p:nvSpPr>
        <p:spPr>
          <a:xfrm>
            <a:off x="3200400" y="4261104"/>
            <a:ext cx="5029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chemeClr val="tx1"/>
                </a:solidFill>
              </a:rPr>
              <a:t>Standard JSON structure and format</a:t>
            </a:r>
            <a:endParaRPr lang="en-US" sz="1250" dirty="0"/>
          </a:p>
        </p:txBody>
      </p:sp>
      <p:sp>
        <p:nvSpPr>
          <p:cNvPr id="55" name="Text 53"/>
          <p:cNvSpPr txBox="1"/>
          <p:nvPr/>
        </p:nvSpPr>
        <p:spPr>
          <a:xfrm>
            <a:off x="8275320" y="4261104"/>
            <a:ext cx="822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chemeClr val="accent6"/>
                </a:solidFill>
              </a:rPr>
              <a:t>XXXX</a:t>
            </a:r>
            <a:endParaRPr lang="en-US" sz="1100" dirty="0"/>
          </a:p>
        </p:txBody>
      </p:sp>
      <p:sp>
        <p:nvSpPr>
          <p:cNvPr id="56" name="Shape 54"/>
          <p:cNvSpPr/>
          <p:nvPr/>
        </p:nvSpPr>
        <p:spPr>
          <a:xfrm>
            <a:off x="9619488" y="4370832"/>
            <a:ext cx="237744" cy="237744"/>
          </a:xfrm>
          <a:prstGeom prst="ellipse">
            <a:avLst/>
          </a:prstGeom>
          <a:solidFill>
            <a:srgbClr val="2E9E44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57" name="Shape 55"/>
          <p:cNvSpPr/>
          <p:nvPr/>
        </p:nvSpPr>
        <p:spPr>
          <a:xfrm>
            <a:off x="10442448" y="4370832"/>
            <a:ext cx="237744" cy="237744"/>
          </a:xfrm>
          <a:prstGeom prst="ellipse">
            <a:avLst/>
          </a:prstGeom>
          <a:solidFill>
            <a:srgbClr val="2E9E44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58" name="Shape 56"/>
          <p:cNvSpPr/>
          <p:nvPr/>
        </p:nvSpPr>
        <p:spPr>
          <a:xfrm>
            <a:off x="11265408" y="4370832"/>
            <a:ext cx="237744" cy="237744"/>
          </a:xfrm>
          <a:prstGeom prst="ellipse">
            <a:avLst/>
          </a:prstGeom>
          <a:solidFill>
            <a:srgbClr val="D64545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59" name="Shape 57"/>
          <p:cNvSpPr/>
          <p:nvPr/>
        </p:nvSpPr>
        <p:spPr>
          <a:xfrm>
            <a:off x="3154680" y="4718304"/>
            <a:ext cx="8458200" cy="0"/>
          </a:xfrm>
          <a:prstGeom prst="line">
            <a:avLst/>
          </a:prstGeom>
          <a:noFill/>
          <a:ln w="9525">
            <a:solidFill>
              <a:srgbClr val="D5DDE8"/>
            </a:solidFill>
            <a:prstDash val="solid"/>
          </a:ln>
        </p:spPr>
      </p:sp>
      <p:sp>
        <p:nvSpPr>
          <p:cNvPr id="60" name="Text 58"/>
          <p:cNvSpPr txBox="1"/>
          <p:nvPr/>
        </p:nvSpPr>
        <p:spPr>
          <a:xfrm>
            <a:off x="3200400" y="4718304"/>
            <a:ext cx="5029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chemeClr val="tx1"/>
                </a:solidFill>
              </a:rPr>
              <a:t>Communication of confidence scores and position (by data and average)</a:t>
            </a:r>
            <a:endParaRPr lang="en-US" sz="1250" dirty="0"/>
          </a:p>
        </p:txBody>
      </p:sp>
      <p:sp>
        <p:nvSpPr>
          <p:cNvPr id="61" name="Text 59"/>
          <p:cNvSpPr txBox="1"/>
          <p:nvPr/>
        </p:nvSpPr>
        <p:spPr>
          <a:xfrm>
            <a:off x="8275320" y="4718304"/>
            <a:ext cx="822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chemeClr val="accent6"/>
                </a:solidFill>
              </a:rPr>
              <a:t>XXXX</a:t>
            </a:r>
            <a:endParaRPr lang="en-US" sz="1100" dirty="0"/>
          </a:p>
        </p:txBody>
      </p:sp>
      <p:sp>
        <p:nvSpPr>
          <p:cNvPr id="62" name="Shape 60"/>
          <p:cNvSpPr/>
          <p:nvPr/>
        </p:nvSpPr>
        <p:spPr>
          <a:xfrm>
            <a:off x="9619488" y="4828032"/>
            <a:ext cx="237744" cy="237744"/>
          </a:xfrm>
          <a:prstGeom prst="ellipse">
            <a:avLst/>
          </a:prstGeom>
          <a:solidFill>
            <a:srgbClr val="2E9E44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63" name="Shape 61"/>
          <p:cNvSpPr/>
          <p:nvPr/>
        </p:nvSpPr>
        <p:spPr>
          <a:xfrm>
            <a:off x="10442448" y="4828032"/>
            <a:ext cx="237744" cy="237744"/>
          </a:xfrm>
          <a:prstGeom prst="ellipse">
            <a:avLst/>
          </a:prstGeom>
          <a:solidFill>
            <a:srgbClr val="2E9E44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64" name="Shape 62"/>
          <p:cNvSpPr/>
          <p:nvPr/>
        </p:nvSpPr>
        <p:spPr>
          <a:xfrm>
            <a:off x="11265408" y="4828032"/>
            <a:ext cx="237744" cy="237744"/>
          </a:xfrm>
          <a:prstGeom prst="ellipse">
            <a:avLst/>
          </a:prstGeom>
          <a:solidFill>
            <a:srgbClr val="D64545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65" name="Shape 63"/>
          <p:cNvSpPr/>
          <p:nvPr/>
        </p:nvSpPr>
        <p:spPr>
          <a:xfrm>
            <a:off x="3154680" y="5175504"/>
            <a:ext cx="8458200" cy="0"/>
          </a:xfrm>
          <a:prstGeom prst="line">
            <a:avLst/>
          </a:prstGeom>
          <a:noFill/>
          <a:ln w="9525">
            <a:solidFill>
              <a:srgbClr val="D5DDE8"/>
            </a:solidFill>
            <a:prstDash val="solid"/>
          </a:ln>
        </p:spPr>
      </p:sp>
      <p:sp>
        <p:nvSpPr>
          <p:cNvPr id="66" name="Text 64"/>
          <p:cNvSpPr txBox="1"/>
          <p:nvPr/>
        </p:nvSpPr>
        <p:spPr>
          <a:xfrm>
            <a:off x="3200400" y="5175504"/>
            <a:ext cx="5029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chemeClr val="tx1"/>
                </a:solidFill>
              </a:rPr>
              <a:t>Detect the statutory auditor's report in financial statements</a:t>
            </a:r>
            <a:endParaRPr lang="en-US" sz="1250" dirty="0"/>
          </a:p>
        </p:txBody>
      </p:sp>
      <p:sp>
        <p:nvSpPr>
          <p:cNvPr id="67" name="Text 65"/>
          <p:cNvSpPr txBox="1"/>
          <p:nvPr/>
        </p:nvSpPr>
        <p:spPr>
          <a:xfrm>
            <a:off x="8275320" y="5175504"/>
            <a:ext cx="822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chemeClr val="accent6"/>
                </a:solidFill>
              </a:rPr>
              <a:t>XXXX</a:t>
            </a:r>
            <a:endParaRPr lang="en-US" sz="1100" dirty="0"/>
          </a:p>
        </p:txBody>
      </p:sp>
      <p:sp>
        <p:nvSpPr>
          <p:cNvPr id="68" name="Shape 66"/>
          <p:cNvSpPr/>
          <p:nvPr/>
        </p:nvSpPr>
        <p:spPr>
          <a:xfrm>
            <a:off x="9619488" y="5285232"/>
            <a:ext cx="237744" cy="237744"/>
          </a:xfrm>
          <a:prstGeom prst="ellipse">
            <a:avLst/>
          </a:prstGeom>
          <a:solidFill>
            <a:srgbClr val="2E9E44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69" name="Shape 67"/>
          <p:cNvSpPr/>
          <p:nvPr/>
        </p:nvSpPr>
        <p:spPr>
          <a:xfrm>
            <a:off x="10442448" y="5285232"/>
            <a:ext cx="237744" cy="237744"/>
          </a:xfrm>
          <a:prstGeom prst="ellipse">
            <a:avLst/>
          </a:prstGeom>
          <a:solidFill>
            <a:srgbClr val="2E9E44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70" name="Shape 68"/>
          <p:cNvSpPr/>
          <p:nvPr/>
        </p:nvSpPr>
        <p:spPr>
          <a:xfrm>
            <a:off x="11265408" y="5285232"/>
            <a:ext cx="237744" cy="237744"/>
          </a:xfrm>
          <a:prstGeom prst="ellipse">
            <a:avLst/>
          </a:prstGeom>
          <a:solidFill>
            <a:srgbClr val="D64545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74552" y="6473952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320040"/>
            <a:ext cx="112471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1"/>
                </a:solidFill>
              </a:rPr>
              <a:t>Status board — Document preprocessing &amp; routing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457200" y="1161288"/>
            <a:ext cx="182880" cy="182880"/>
          </a:xfrm>
          <a:prstGeom prst="ellipse">
            <a:avLst/>
          </a:prstGeom>
          <a:solidFill>
            <a:srgbClr val="2E9E44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713232" y="1115568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chemeClr val="accent6"/>
                </a:solidFill>
              </a:rPr>
              <a:t>Done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1783080" y="1161288"/>
            <a:ext cx="182880" cy="182880"/>
          </a:xfrm>
          <a:prstGeom prst="ellipse">
            <a:avLst/>
          </a:prstGeom>
          <a:solidFill>
            <a:srgbClr val="F2A33A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2039112" y="1115568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chemeClr val="accent6"/>
                </a:solidFill>
              </a:rPr>
              <a:t>In progress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3108960" y="1161288"/>
            <a:ext cx="182880" cy="182880"/>
          </a:xfrm>
          <a:prstGeom prst="ellipse">
            <a:avLst/>
          </a:prstGeom>
          <a:solidFill>
            <a:srgbClr val="D64545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3364992" y="1115568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chemeClr val="accent6"/>
                </a:solidFill>
              </a:rPr>
              <a:t>Not started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4434840" y="1161288"/>
            <a:ext cx="182880" cy="182880"/>
          </a:xfrm>
          <a:prstGeom prst="ellipse">
            <a:avLst/>
          </a:prstGeom>
          <a:solidFill>
            <a:srgbClr val="B8C2D0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4690872" y="1115568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chemeClr val="accent6"/>
                </a:solidFill>
              </a:rPr>
              <a:t>Status not provided</a:t>
            </a:r>
            <a:endParaRPr lang="en-US" sz="1000" dirty="0"/>
          </a:p>
        </p:txBody>
      </p:sp>
      <p:sp>
        <p:nvSpPr>
          <p:cNvPr id="11" name="Text 9"/>
          <p:cNvSpPr txBox="1"/>
          <p:nvPr/>
        </p:nvSpPr>
        <p:spPr>
          <a:xfrm>
            <a:off x="8275320" y="1115568"/>
            <a:ext cx="822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tx2"/>
                </a:solidFill>
              </a:rPr>
              <a:t>Jira</a:t>
            </a:r>
            <a:endParaRPr lang="en-US" sz="1200" dirty="0"/>
          </a:p>
        </p:txBody>
      </p:sp>
      <p:sp>
        <p:nvSpPr>
          <p:cNvPr id="12" name="Text 10"/>
          <p:cNvSpPr txBox="1"/>
          <p:nvPr/>
        </p:nvSpPr>
        <p:spPr>
          <a:xfrm>
            <a:off x="9326880" y="1115568"/>
            <a:ext cx="822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tx2"/>
                </a:solidFill>
              </a:rPr>
              <a:t>Spec</a:t>
            </a:r>
            <a:endParaRPr lang="en-US" sz="1200" dirty="0"/>
          </a:p>
        </p:txBody>
      </p:sp>
      <p:sp>
        <p:nvSpPr>
          <p:cNvPr id="13" name="Text 11"/>
          <p:cNvSpPr txBox="1"/>
          <p:nvPr/>
        </p:nvSpPr>
        <p:spPr>
          <a:xfrm>
            <a:off x="10149840" y="1115568"/>
            <a:ext cx="822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tx2"/>
                </a:solidFill>
              </a:rPr>
              <a:t>Dev</a:t>
            </a:r>
            <a:endParaRPr lang="en-US" sz="1200" dirty="0"/>
          </a:p>
        </p:txBody>
      </p:sp>
      <p:sp>
        <p:nvSpPr>
          <p:cNvPr id="14" name="Text 12"/>
          <p:cNvSpPr txBox="1"/>
          <p:nvPr/>
        </p:nvSpPr>
        <p:spPr>
          <a:xfrm>
            <a:off x="10972800" y="1115568"/>
            <a:ext cx="822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tx2"/>
                </a:solidFill>
              </a:rPr>
              <a:t>Test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457200" y="1481328"/>
            <a:ext cx="11274552" cy="4645152"/>
          </a:xfrm>
          <a:prstGeom prst="roundRect">
            <a:avLst>
              <a:gd name="adj" fmla="val 1575"/>
            </a:avLst>
          </a:prstGeom>
          <a:solidFill>
            <a:schemeClr val="bg2"/>
          </a:solidFill>
          <a:ln/>
        </p:spPr>
      </p:sp>
      <p:sp>
        <p:nvSpPr>
          <p:cNvPr id="16" name="Shape 14"/>
          <p:cNvSpPr/>
          <p:nvPr/>
        </p:nvSpPr>
        <p:spPr>
          <a:xfrm>
            <a:off x="457200" y="1481328"/>
            <a:ext cx="2514600" cy="4645152"/>
          </a:xfrm>
          <a:prstGeom prst="roundRect">
            <a:avLst>
              <a:gd name="adj" fmla="val 2909"/>
            </a:avLst>
          </a:prstGeom>
          <a:solidFill>
            <a:schemeClr val="tx1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603504" y="1481328"/>
            <a:ext cx="2240280" cy="46451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Document preprocessing &amp; routing</a:t>
            </a:r>
            <a:endParaRPr lang="en-US" sz="1300" dirty="0"/>
          </a:p>
        </p:txBody>
      </p:sp>
      <p:sp>
        <p:nvSpPr>
          <p:cNvPr id="18" name="Text 16"/>
          <p:cNvSpPr txBox="1"/>
          <p:nvPr/>
        </p:nvSpPr>
        <p:spPr>
          <a:xfrm>
            <a:off x="3200400" y="1517904"/>
            <a:ext cx="5029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chemeClr val="tx1"/>
                </a:solidFill>
              </a:rPr>
              <a:t>Identify the data to be extracted and remove useless pages</a:t>
            </a:r>
            <a:endParaRPr lang="en-US" sz="1250" dirty="0"/>
          </a:p>
        </p:txBody>
      </p:sp>
      <p:sp>
        <p:nvSpPr>
          <p:cNvPr id="19" name="Text 17"/>
          <p:cNvSpPr txBox="1"/>
          <p:nvPr/>
        </p:nvSpPr>
        <p:spPr>
          <a:xfrm>
            <a:off x="8275320" y="1517904"/>
            <a:ext cx="822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chemeClr val="accent6"/>
                </a:solidFill>
              </a:rPr>
              <a:t>XXXX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9619488" y="1627632"/>
            <a:ext cx="237744" cy="237744"/>
          </a:xfrm>
          <a:prstGeom prst="ellipse">
            <a:avLst/>
          </a:prstGeom>
          <a:solidFill>
            <a:srgbClr val="2E9E44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10442448" y="1627632"/>
            <a:ext cx="237744" cy="237744"/>
          </a:xfrm>
          <a:prstGeom prst="ellipse">
            <a:avLst/>
          </a:prstGeom>
          <a:solidFill>
            <a:srgbClr val="2E9E44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11265408" y="1627632"/>
            <a:ext cx="237744" cy="237744"/>
          </a:xfrm>
          <a:prstGeom prst="ellipse">
            <a:avLst/>
          </a:prstGeom>
          <a:solidFill>
            <a:srgbClr val="D64545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3154680" y="1975104"/>
            <a:ext cx="8458200" cy="0"/>
          </a:xfrm>
          <a:prstGeom prst="line">
            <a:avLst/>
          </a:prstGeom>
          <a:noFill/>
          <a:ln w="9525">
            <a:solidFill>
              <a:srgbClr val="D5DDE8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3200400" y="1975104"/>
            <a:ext cx="5029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chemeClr val="tx1"/>
                </a:solidFill>
              </a:rPr>
              <a:t>Generate a rejection message (document incomplete)</a:t>
            </a:r>
            <a:endParaRPr lang="en-US" sz="1250" dirty="0"/>
          </a:p>
        </p:txBody>
      </p:sp>
      <p:sp>
        <p:nvSpPr>
          <p:cNvPr id="25" name="Text 23"/>
          <p:cNvSpPr txBox="1"/>
          <p:nvPr/>
        </p:nvSpPr>
        <p:spPr>
          <a:xfrm>
            <a:off x="8275320" y="1975104"/>
            <a:ext cx="822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chemeClr val="accent6"/>
                </a:solidFill>
              </a:rPr>
              <a:t>XXXX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9619488" y="2084832"/>
            <a:ext cx="237744" cy="237744"/>
          </a:xfrm>
          <a:prstGeom prst="ellipse">
            <a:avLst/>
          </a:prstGeom>
          <a:solidFill>
            <a:srgbClr val="2E9E44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10442448" y="2084832"/>
            <a:ext cx="237744" cy="237744"/>
          </a:xfrm>
          <a:prstGeom prst="ellipse">
            <a:avLst/>
          </a:prstGeom>
          <a:solidFill>
            <a:srgbClr val="2E9E44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11265408" y="2084832"/>
            <a:ext cx="237744" cy="237744"/>
          </a:xfrm>
          <a:prstGeom prst="ellipse">
            <a:avLst/>
          </a:prstGeom>
          <a:solidFill>
            <a:srgbClr val="D64545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3154680" y="2432304"/>
            <a:ext cx="8458200" cy="0"/>
          </a:xfrm>
          <a:prstGeom prst="line">
            <a:avLst/>
          </a:prstGeom>
          <a:noFill/>
          <a:ln w="9525">
            <a:solidFill>
              <a:srgbClr val="D5DDE8"/>
            </a:solidFill>
            <a:prstDash val="solid"/>
          </a:ln>
        </p:spPr>
      </p:sp>
      <p:sp>
        <p:nvSpPr>
          <p:cNvPr id="30" name="Text 28"/>
          <p:cNvSpPr txBox="1"/>
          <p:nvPr/>
        </p:nvSpPr>
        <p:spPr>
          <a:xfrm>
            <a:off x="3200400" y="2432304"/>
            <a:ext cx="5029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chemeClr val="tx1"/>
                </a:solidFill>
              </a:rPr>
              <a:t>Detect the mandatory pages by code (standard documents)</a:t>
            </a:r>
            <a:endParaRPr lang="en-US" sz="1250" dirty="0"/>
          </a:p>
        </p:txBody>
      </p:sp>
      <p:sp>
        <p:nvSpPr>
          <p:cNvPr id="31" name="Text 29"/>
          <p:cNvSpPr txBox="1"/>
          <p:nvPr/>
        </p:nvSpPr>
        <p:spPr>
          <a:xfrm>
            <a:off x="8275320" y="2432304"/>
            <a:ext cx="822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chemeClr val="accent6"/>
                </a:solidFill>
              </a:rPr>
              <a:t>XXXX</a:t>
            </a:r>
            <a:endParaRPr lang="en-US" sz="1100" dirty="0"/>
          </a:p>
        </p:txBody>
      </p:sp>
      <p:sp>
        <p:nvSpPr>
          <p:cNvPr id="32" name="Shape 30"/>
          <p:cNvSpPr/>
          <p:nvPr/>
        </p:nvSpPr>
        <p:spPr>
          <a:xfrm>
            <a:off x="9619488" y="2542032"/>
            <a:ext cx="237744" cy="237744"/>
          </a:xfrm>
          <a:prstGeom prst="ellipse">
            <a:avLst/>
          </a:prstGeom>
          <a:solidFill>
            <a:srgbClr val="2E9E44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10442448" y="2542032"/>
            <a:ext cx="237744" cy="237744"/>
          </a:xfrm>
          <a:prstGeom prst="ellipse">
            <a:avLst/>
          </a:prstGeom>
          <a:solidFill>
            <a:srgbClr val="2E9E44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11265408" y="2542032"/>
            <a:ext cx="237744" cy="237744"/>
          </a:xfrm>
          <a:prstGeom prst="ellipse">
            <a:avLst/>
          </a:prstGeom>
          <a:solidFill>
            <a:srgbClr val="D64545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3154680" y="2889504"/>
            <a:ext cx="8458200" cy="0"/>
          </a:xfrm>
          <a:prstGeom prst="line">
            <a:avLst/>
          </a:prstGeom>
          <a:noFill/>
          <a:ln w="9525">
            <a:solidFill>
              <a:srgbClr val="D5DDE8"/>
            </a:solidFill>
            <a:prstDash val="solid"/>
          </a:ln>
        </p:spPr>
      </p:sp>
      <p:sp>
        <p:nvSpPr>
          <p:cNvPr id="36" name="Text 34"/>
          <p:cNvSpPr txBox="1"/>
          <p:nvPr/>
        </p:nvSpPr>
        <p:spPr>
          <a:xfrm>
            <a:off x="3200400" y="2889504"/>
            <a:ext cx="5029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chemeClr val="tx1"/>
                </a:solidFill>
              </a:rPr>
              <a:t>Generate a rejection message (document not accepted)</a:t>
            </a:r>
            <a:endParaRPr lang="en-US" sz="1250" dirty="0"/>
          </a:p>
        </p:txBody>
      </p:sp>
      <p:sp>
        <p:nvSpPr>
          <p:cNvPr id="37" name="Text 35"/>
          <p:cNvSpPr txBox="1"/>
          <p:nvPr/>
        </p:nvSpPr>
        <p:spPr>
          <a:xfrm>
            <a:off x="8275320" y="2889504"/>
            <a:ext cx="822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chemeClr val="accent6"/>
                </a:solidFill>
              </a:rPr>
              <a:t>XXXX</a:t>
            </a:r>
            <a:endParaRPr lang="en-US" sz="1100" dirty="0"/>
          </a:p>
        </p:txBody>
      </p:sp>
      <p:sp>
        <p:nvSpPr>
          <p:cNvPr id="38" name="Shape 36"/>
          <p:cNvSpPr/>
          <p:nvPr/>
        </p:nvSpPr>
        <p:spPr>
          <a:xfrm>
            <a:off x="9619488" y="2999232"/>
            <a:ext cx="237744" cy="237744"/>
          </a:xfrm>
          <a:prstGeom prst="ellipse">
            <a:avLst/>
          </a:prstGeom>
          <a:solidFill>
            <a:srgbClr val="2E9E44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10442448" y="2999232"/>
            <a:ext cx="237744" cy="237744"/>
          </a:xfrm>
          <a:prstGeom prst="ellipse">
            <a:avLst/>
          </a:prstGeom>
          <a:solidFill>
            <a:srgbClr val="2E9E44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11265408" y="2999232"/>
            <a:ext cx="237744" cy="237744"/>
          </a:xfrm>
          <a:prstGeom prst="ellipse">
            <a:avLst/>
          </a:prstGeom>
          <a:solidFill>
            <a:srgbClr val="D64545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3154680" y="3346704"/>
            <a:ext cx="8458200" cy="0"/>
          </a:xfrm>
          <a:prstGeom prst="line">
            <a:avLst/>
          </a:prstGeom>
          <a:noFill/>
          <a:ln w="9525">
            <a:solidFill>
              <a:srgbClr val="D5DDE8"/>
            </a:solidFill>
            <a:prstDash val="solid"/>
          </a:ln>
        </p:spPr>
      </p:sp>
      <p:sp>
        <p:nvSpPr>
          <p:cNvPr id="42" name="Text 40"/>
          <p:cNvSpPr txBox="1"/>
          <p:nvPr/>
        </p:nvSpPr>
        <p:spPr>
          <a:xfrm>
            <a:off x="3200400" y="3346704"/>
            <a:ext cx="5029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chemeClr val="tx1"/>
                </a:solidFill>
              </a:rPr>
              <a:t>Detect the mandatory pages by title (free format)</a:t>
            </a:r>
            <a:endParaRPr lang="en-US" sz="1250" dirty="0"/>
          </a:p>
        </p:txBody>
      </p:sp>
      <p:sp>
        <p:nvSpPr>
          <p:cNvPr id="43" name="Text 41"/>
          <p:cNvSpPr txBox="1"/>
          <p:nvPr/>
        </p:nvSpPr>
        <p:spPr>
          <a:xfrm>
            <a:off x="8275320" y="3346704"/>
            <a:ext cx="822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chemeClr val="accent6"/>
                </a:solidFill>
              </a:rPr>
              <a:t>XXXX</a:t>
            </a:r>
            <a:endParaRPr lang="en-US" sz="1100" dirty="0"/>
          </a:p>
        </p:txBody>
      </p:sp>
      <p:sp>
        <p:nvSpPr>
          <p:cNvPr id="44" name="Shape 42"/>
          <p:cNvSpPr/>
          <p:nvPr/>
        </p:nvSpPr>
        <p:spPr>
          <a:xfrm>
            <a:off x="9619488" y="3456432"/>
            <a:ext cx="237744" cy="237744"/>
          </a:xfrm>
          <a:prstGeom prst="ellipse">
            <a:avLst/>
          </a:prstGeom>
          <a:solidFill>
            <a:srgbClr val="2E9E44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45" name="Shape 43"/>
          <p:cNvSpPr/>
          <p:nvPr/>
        </p:nvSpPr>
        <p:spPr>
          <a:xfrm>
            <a:off x="10442448" y="3456432"/>
            <a:ext cx="237744" cy="237744"/>
          </a:xfrm>
          <a:prstGeom prst="ellipse">
            <a:avLst/>
          </a:prstGeom>
          <a:solidFill>
            <a:srgbClr val="2E9E44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46" name="Shape 44"/>
          <p:cNvSpPr/>
          <p:nvPr/>
        </p:nvSpPr>
        <p:spPr>
          <a:xfrm>
            <a:off x="11265408" y="3456432"/>
            <a:ext cx="237744" cy="237744"/>
          </a:xfrm>
          <a:prstGeom prst="ellipse">
            <a:avLst/>
          </a:prstGeom>
          <a:solidFill>
            <a:srgbClr val="D64545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47" name="Shape 45"/>
          <p:cNvSpPr/>
          <p:nvPr/>
        </p:nvSpPr>
        <p:spPr>
          <a:xfrm>
            <a:off x="3154680" y="3803904"/>
            <a:ext cx="8458200" cy="0"/>
          </a:xfrm>
          <a:prstGeom prst="line">
            <a:avLst/>
          </a:prstGeom>
          <a:noFill/>
          <a:ln w="9525">
            <a:solidFill>
              <a:srgbClr val="D5DDE8"/>
            </a:solidFill>
            <a:prstDash val="solid"/>
          </a:ln>
        </p:spPr>
      </p:sp>
      <p:sp>
        <p:nvSpPr>
          <p:cNvPr id="48" name="Text 46"/>
          <p:cNvSpPr txBox="1"/>
          <p:nvPr/>
        </p:nvSpPr>
        <p:spPr>
          <a:xfrm>
            <a:off x="3200400" y="3803904"/>
            <a:ext cx="5029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chemeClr val="tx1"/>
                </a:solidFill>
              </a:rPr>
              <a:t>Update submission with preprocessing results</a:t>
            </a:r>
            <a:endParaRPr lang="en-US" sz="1250" dirty="0"/>
          </a:p>
        </p:txBody>
      </p:sp>
      <p:sp>
        <p:nvSpPr>
          <p:cNvPr id="49" name="Text 47"/>
          <p:cNvSpPr txBox="1"/>
          <p:nvPr/>
        </p:nvSpPr>
        <p:spPr>
          <a:xfrm>
            <a:off x="8275320" y="3803904"/>
            <a:ext cx="822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chemeClr val="accent6"/>
                </a:solidFill>
              </a:rPr>
              <a:t>XXXX</a:t>
            </a:r>
            <a:endParaRPr lang="en-US" sz="1100" dirty="0"/>
          </a:p>
        </p:txBody>
      </p:sp>
      <p:sp>
        <p:nvSpPr>
          <p:cNvPr id="50" name="Shape 48"/>
          <p:cNvSpPr/>
          <p:nvPr/>
        </p:nvSpPr>
        <p:spPr>
          <a:xfrm>
            <a:off x="9619488" y="3913632"/>
            <a:ext cx="237744" cy="237744"/>
          </a:xfrm>
          <a:prstGeom prst="ellipse">
            <a:avLst/>
          </a:prstGeom>
          <a:solidFill>
            <a:srgbClr val="2E9E44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51" name="Shape 49"/>
          <p:cNvSpPr/>
          <p:nvPr/>
        </p:nvSpPr>
        <p:spPr>
          <a:xfrm>
            <a:off x="10442448" y="3913632"/>
            <a:ext cx="237744" cy="237744"/>
          </a:xfrm>
          <a:prstGeom prst="ellipse">
            <a:avLst/>
          </a:prstGeom>
          <a:solidFill>
            <a:srgbClr val="2E9E44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52" name="Shape 50"/>
          <p:cNvSpPr/>
          <p:nvPr/>
        </p:nvSpPr>
        <p:spPr>
          <a:xfrm>
            <a:off x="11265408" y="3913632"/>
            <a:ext cx="237744" cy="237744"/>
          </a:xfrm>
          <a:prstGeom prst="ellipse">
            <a:avLst/>
          </a:prstGeom>
          <a:solidFill>
            <a:srgbClr val="D64545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53" name="Shape 51"/>
          <p:cNvSpPr/>
          <p:nvPr/>
        </p:nvSpPr>
        <p:spPr>
          <a:xfrm>
            <a:off x="3154680" y="4261104"/>
            <a:ext cx="8458200" cy="0"/>
          </a:xfrm>
          <a:prstGeom prst="line">
            <a:avLst/>
          </a:prstGeom>
          <a:noFill/>
          <a:ln w="9525">
            <a:solidFill>
              <a:srgbClr val="D5DDE8"/>
            </a:solidFill>
            <a:prstDash val="solid"/>
          </a:ln>
        </p:spPr>
      </p:sp>
      <p:sp>
        <p:nvSpPr>
          <p:cNvPr id="54" name="Text 52"/>
          <p:cNvSpPr txBox="1"/>
          <p:nvPr/>
        </p:nvSpPr>
        <p:spPr>
          <a:xfrm>
            <a:off x="3200400" y="4261104"/>
            <a:ext cx="5029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chemeClr val="tx1"/>
                </a:solidFill>
              </a:rPr>
              <a:t>Identify the document type and its routing</a:t>
            </a:r>
            <a:endParaRPr lang="en-US" sz="1250" dirty="0"/>
          </a:p>
        </p:txBody>
      </p:sp>
      <p:sp>
        <p:nvSpPr>
          <p:cNvPr id="55" name="Text 53"/>
          <p:cNvSpPr txBox="1"/>
          <p:nvPr/>
        </p:nvSpPr>
        <p:spPr>
          <a:xfrm>
            <a:off x="8275320" y="4261104"/>
            <a:ext cx="822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chemeClr val="accent6"/>
                </a:solidFill>
              </a:rPr>
              <a:t>XXXX</a:t>
            </a:r>
            <a:endParaRPr lang="en-US" sz="1100" dirty="0"/>
          </a:p>
        </p:txBody>
      </p:sp>
      <p:sp>
        <p:nvSpPr>
          <p:cNvPr id="56" name="Shape 54"/>
          <p:cNvSpPr/>
          <p:nvPr/>
        </p:nvSpPr>
        <p:spPr>
          <a:xfrm>
            <a:off x="9619488" y="4370832"/>
            <a:ext cx="237744" cy="237744"/>
          </a:xfrm>
          <a:prstGeom prst="ellipse">
            <a:avLst/>
          </a:prstGeom>
          <a:solidFill>
            <a:srgbClr val="2E9E44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57" name="Shape 55"/>
          <p:cNvSpPr/>
          <p:nvPr/>
        </p:nvSpPr>
        <p:spPr>
          <a:xfrm>
            <a:off x="10442448" y="4370832"/>
            <a:ext cx="237744" cy="237744"/>
          </a:xfrm>
          <a:prstGeom prst="ellipse">
            <a:avLst/>
          </a:prstGeom>
          <a:solidFill>
            <a:srgbClr val="2E9E44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58" name="Shape 56"/>
          <p:cNvSpPr/>
          <p:nvPr/>
        </p:nvSpPr>
        <p:spPr>
          <a:xfrm>
            <a:off x="11265408" y="4370832"/>
            <a:ext cx="237744" cy="237744"/>
          </a:xfrm>
          <a:prstGeom prst="ellipse">
            <a:avLst/>
          </a:prstGeom>
          <a:solidFill>
            <a:srgbClr val="D64545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59" name="Shape 57"/>
          <p:cNvSpPr/>
          <p:nvPr/>
        </p:nvSpPr>
        <p:spPr>
          <a:xfrm>
            <a:off x="3154680" y="4718304"/>
            <a:ext cx="8458200" cy="0"/>
          </a:xfrm>
          <a:prstGeom prst="line">
            <a:avLst/>
          </a:prstGeom>
          <a:noFill/>
          <a:ln w="9525">
            <a:solidFill>
              <a:srgbClr val="D5DDE8"/>
            </a:solidFill>
            <a:prstDash val="solid"/>
          </a:ln>
        </p:spPr>
      </p:sp>
      <p:sp>
        <p:nvSpPr>
          <p:cNvPr id="60" name="Text 58"/>
          <p:cNvSpPr txBox="1"/>
          <p:nvPr/>
        </p:nvSpPr>
        <p:spPr>
          <a:xfrm>
            <a:off x="3200400" y="4718304"/>
            <a:ext cx="5029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chemeClr val="tx1"/>
                </a:solidFill>
              </a:rPr>
              <a:t>Create a UI to test the classification algorithm</a:t>
            </a:r>
            <a:endParaRPr lang="en-US" sz="1250" dirty="0"/>
          </a:p>
        </p:txBody>
      </p:sp>
      <p:sp>
        <p:nvSpPr>
          <p:cNvPr id="61" name="Text 59"/>
          <p:cNvSpPr txBox="1"/>
          <p:nvPr/>
        </p:nvSpPr>
        <p:spPr>
          <a:xfrm>
            <a:off x="8275320" y="4718304"/>
            <a:ext cx="822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chemeClr val="accent6"/>
                </a:solidFill>
              </a:rPr>
              <a:t>XXXX</a:t>
            </a:r>
            <a:endParaRPr lang="en-US" sz="1100" dirty="0"/>
          </a:p>
        </p:txBody>
      </p:sp>
      <p:sp>
        <p:nvSpPr>
          <p:cNvPr id="62" name="Shape 60"/>
          <p:cNvSpPr/>
          <p:nvPr/>
        </p:nvSpPr>
        <p:spPr>
          <a:xfrm>
            <a:off x="9619488" y="4828032"/>
            <a:ext cx="237744" cy="237744"/>
          </a:xfrm>
          <a:prstGeom prst="ellipse">
            <a:avLst/>
          </a:prstGeom>
          <a:solidFill>
            <a:srgbClr val="2E9E44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63" name="Shape 61"/>
          <p:cNvSpPr/>
          <p:nvPr/>
        </p:nvSpPr>
        <p:spPr>
          <a:xfrm>
            <a:off x="10442448" y="4828032"/>
            <a:ext cx="237744" cy="237744"/>
          </a:xfrm>
          <a:prstGeom prst="ellipse">
            <a:avLst/>
          </a:prstGeom>
          <a:solidFill>
            <a:srgbClr val="2E9E44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64" name="Shape 62"/>
          <p:cNvSpPr/>
          <p:nvPr/>
        </p:nvSpPr>
        <p:spPr>
          <a:xfrm>
            <a:off x="11265408" y="4828032"/>
            <a:ext cx="237744" cy="237744"/>
          </a:xfrm>
          <a:prstGeom prst="ellipse">
            <a:avLst/>
          </a:prstGeom>
          <a:solidFill>
            <a:srgbClr val="D64545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65" name="Shape 63"/>
          <p:cNvSpPr/>
          <p:nvPr/>
        </p:nvSpPr>
        <p:spPr>
          <a:xfrm>
            <a:off x="3154680" y="5175504"/>
            <a:ext cx="8458200" cy="0"/>
          </a:xfrm>
          <a:prstGeom prst="line">
            <a:avLst/>
          </a:prstGeom>
          <a:noFill/>
          <a:ln w="9525">
            <a:solidFill>
              <a:srgbClr val="D5DDE8"/>
            </a:solidFill>
            <a:prstDash val="solid"/>
          </a:ln>
        </p:spPr>
      </p:sp>
      <p:sp>
        <p:nvSpPr>
          <p:cNvPr id="66" name="Text 64"/>
          <p:cNvSpPr txBox="1"/>
          <p:nvPr/>
        </p:nvSpPr>
        <p:spPr>
          <a:xfrm>
            <a:off x="3200400" y="5175504"/>
            <a:ext cx="5029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chemeClr val="tx1"/>
                </a:solidFill>
              </a:rPr>
              <a:t>Filter pages (mandatory &amp; optional pages)</a:t>
            </a:r>
            <a:endParaRPr lang="en-US" sz="1250" dirty="0"/>
          </a:p>
        </p:txBody>
      </p:sp>
      <p:sp>
        <p:nvSpPr>
          <p:cNvPr id="67" name="Text 65"/>
          <p:cNvSpPr txBox="1"/>
          <p:nvPr/>
        </p:nvSpPr>
        <p:spPr>
          <a:xfrm>
            <a:off x="8275320" y="5175504"/>
            <a:ext cx="822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chemeClr val="accent6"/>
                </a:solidFill>
              </a:rPr>
              <a:t>XXXX</a:t>
            </a:r>
            <a:endParaRPr lang="en-US" sz="1100" dirty="0"/>
          </a:p>
        </p:txBody>
      </p:sp>
      <p:sp>
        <p:nvSpPr>
          <p:cNvPr id="68" name="Shape 66"/>
          <p:cNvSpPr/>
          <p:nvPr/>
        </p:nvSpPr>
        <p:spPr>
          <a:xfrm>
            <a:off x="9619488" y="5285232"/>
            <a:ext cx="237744" cy="237744"/>
          </a:xfrm>
          <a:prstGeom prst="ellipse">
            <a:avLst/>
          </a:prstGeom>
          <a:solidFill>
            <a:srgbClr val="2E9E44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69" name="Shape 67"/>
          <p:cNvSpPr/>
          <p:nvPr/>
        </p:nvSpPr>
        <p:spPr>
          <a:xfrm>
            <a:off x="10442448" y="5285232"/>
            <a:ext cx="237744" cy="237744"/>
          </a:xfrm>
          <a:prstGeom prst="ellipse">
            <a:avLst/>
          </a:prstGeom>
          <a:solidFill>
            <a:srgbClr val="2E9E44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70" name="Shape 68"/>
          <p:cNvSpPr/>
          <p:nvPr/>
        </p:nvSpPr>
        <p:spPr>
          <a:xfrm>
            <a:off x="11265408" y="5285232"/>
            <a:ext cx="237744" cy="237744"/>
          </a:xfrm>
          <a:prstGeom prst="ellipse">
            <a:avLst/>
          </a:prstGeom>
          <a:solidFill>
            <a:srgbClr val="D64545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71" name="Shape 69"/>
          <p:cNvSpPr/>
          <p:nvPr/>
        </p:nvSpPr>
        <p:spPr>
          <a:xfrm>
            <a:off x="3154680" y="5632704"/>
            <a:ext cx="8458200" cy="0"/>
          </a:xfrm>
          <a:prstGeom prst="line">
            <a:avLst/>
          </a:prstGeom>
          <a:noFill/>
          <a:ln w="9525">
            <a:solidFill>
              <a:srgbClr val="D5DDE8"/>
            </a:solidFill>
            <a:prstDash val="solid"/>
          </a:ln>
        </p:spPr>
      </p:sp>
      <p:sp>
        <p:nvSpPr>
          <p:cNvPr id="72" name="Text 70"/>
          <p:cNvSpPr txBox="1"/>
          <p:nvPr/>
        </p:nvSpPr>
        <p:spPr>
          <a:xfrm>
            <a:off x="3200400" y="5632704"/>
            <a:ext cx="5029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chemeClr val="tx1"/>
                </a:solidFill>
              </a:rPr>
              <a:t>Unify output of matched pages</a:t>
            </a:r>
            <a:endParaRPr lang="en-US" sz="1250" dirty="0"/>
          </a:p>
        </p:txBody>
      </p:sp>
      <p:sp>
        <p:nvSpPr>
          <p:cNvPr id="73" name="Text 71"/>
          <p:cNvSpPr txBox="1"/>
          <p:nvPr/>
        </p:nvSpPr>
        <p:spPr>
          <a:xfrm>
            <a:off x="8275320" y="5632704"/>
            <a:ext cx="822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chemeClr val="accent6"/>
                </a:solidFill>
              </a:rPr>
              <a:t>XXXX</a:t>
            </a:r>
            <a:endParaRPr lang="en-US" sz="1100" dirty="0"/>
          </a:p>
        </p:txBody>
      </p:sp>
      <p:sp>
        <p:nvSpPr>
          <p:cNvPr id="74" name="Shape 72"/>
          <p:cNvSpPr/>
          <p:nvPr/>
        </p:nvSpPr>
        <p:spPr>
          <a:xfrm>
            <a:off x="9619488" y="5742432"/>
            <a:ext cx="237744" cy="237744"/>
          </a:xfrm>
          <a:prstGeom prst="ellipse">
            <a:avLst/>
          </a:prstGeom>
          <a:solidFill>
            <a:srgbClr val="2E9E44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75" name="Shape 73"/>
          <p:cNvSpPr/>
          <p:nvPr/>
        </p:nvSpPr>
        <p:spPr>
          <a:xfrm>
            <a:off x="10442448" y="5742432"/>
            <a:ext cx="237744" cy="237744"/>
          </a:xfrm>
          <a:prstGeom prst="ellipse">
            <a:avLst/>
          </a:prstGeom>
          <a:solidFill>
            <a:srgbClr val="2E9E44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76" name="Shape 74"/>
          <p:cNvSpPr/>
          <p:nvPr/>
        </p:nvSpPr>
        <p:spPr>
          <a:xfrm>
            <a:off x="11265408" y="5742432"/>
            <a:ext cx="237744" cy="237744"/>
          </a:xfrm>
          <a:prstGeom prst="ellipse">
            <a:avLst/>
          </a:prstGeom>
          <a:solidFill>
            <a:srgbClr val="D64545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74552" y="6473952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320040"/>
            <a:ext cx="112471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1"/>
                </a:solidFill>
              </a:rPr>
              <a:t>Status board — Data extraction, post-treatment &amp; reporting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457200" y="1161288"/>
            <a:ext cx="182880" cy="182880"/>
          </a:xfrm>
          <a:prstGeom prst="ellipse">
            <a:avLst/>
          </a:prstGeom>
          <a:solidFill>
            <a:srgbClr val="2E9E44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713232" y="1115568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chemeClr val="accent6"/>
                </a:solidFill>
              </a:rPr>
              <a:t>Done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1783080" y="1161288"/>
            <a:ext cx="182880" cy="182880"/>
          </a:xfrm>
          <a:prstGeom prst="ellipse">
            <a:avLst/>
          </a:prstGeom>
          <a:solidFill>
            <a:srgbClr val="F2A33A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2039112" y="1115568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chemeClr val="accent6"/>
                </a:solidFill>
              </a:rPr>
              <a:t>In progress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3108960" y="1161288"/>
            <a:ext cx="182880" cy="182880"/>
          </a:xfrm>
          <a:prstGeom prst="ellipse">
            <a:avLst/>
          </a:prstGeom>
          <a:solidFill>
            <a:srgbClr val="D64545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3364992" y="1115568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chemeClr val="accent6"/>
                </a:solidFill>
              </a:rPr>
              <a:t>Not started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4434840" y="1161288"/>
            <a:ext cx="182880" cy="182880"/>
          </a:xfrm>
          <a:prstGeom prst="ellipse">
            <a:avLst/>
          </a:prstGeom>
          <a:solidFill>
            <a:srgbClr val="B8C2D0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4690872" y="1115568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chemeClr val="accent6"/>
                </a:solidFill>
              </a:rPr>
              <a:t>Status not provided</a:t>
            </a:r>
            <a:endParaRPr lang="en-US" sz="1000" dirty="0"/>
          </a:p>
        </p:txBody>
      </p:sp>
      <p:sp>
        <p:nvSpPr>
          <p:cNvPr id="11" name="Text 9"/>
          <p:cNvSpPr txBox="1"/>
          <p:nvPr/>
        </p:nvSpPr>
        <p:spPr>
          <a:xfrm>
            <a:off x="8275320" y="1115568"/>
            <a:ext cx="822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tx2"/>
                </a:solidFill>
              </a:rPr>
              <a:t>Jira</a:t>
            </a:r>
            <a:endParaRPr lang="en-US" sz="1200" dirty="0"/>
          </a:p>
        </p:txBody>
      </p:sp>
      <p:sp>
        <p:nvSpPr>
          <p:cNvPr id="12" name="Text 10"/>
          <p:cNvSpPr txBox="1"/>
          <p:nvPr/>
        </p:nvSpPr>
        <p:spPr>
          <a:xfrm>
            <a:off x="9326880" y="1115568"/>
            <a:ext cx="822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tx2"/>
                </a:solidFill>
              </a:rPr>
              <a:t>Spec</a:t>
            </a:r>
            <a:endParaRPr lang="en-US" sz="1200" dirty="0"/>
          </a:p>
        </p:txBody>
      </p:sp>
      <p:sp>
        <p:nvSpPr>
          <p:cNvPr id="13" name="Text 11"/>
          <p:cNvSpPr txBox="1"/>
          <p:nvPr/>
        </p:nvSpPr>
        <p:spPr>
          <a:xfrm>
            <a:off x="10149840" y="1115568"/>
            <a:ext cx="822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tx2"/>
                </a:solidFill>
              </a:rPr>
              <a:t>Dev</a:t>
            </a:r>
            <a:endParaRPr lang="en-US" sz="1200" dirty="0"/>
          </a:p>
        </p:txBody>
      </p:sp>
      <p:sp>
        <p:nvSpPr>
          <p:cNvPr id="14" name="Text 12"/>
          <p:cNvSpPr txBox="1"/>
          <p:nvPr/>
        </p:nvSpPr>
        <p:spPr>
          <a:xfrm>
            <a:off x="10972800" y="1115568"/>
            <a:ext cx="822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tx2"/>
                </a:solidFill>
              </a:rPr>
              <a:t>Test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457200" y="1481328"/>
            <a:ext cx="11274552" cy="987552"/>
          </a:xfrm>
          <a:prstGeom prst="roundRect">
            <a:avLst>
              <a:gd name="adj" fmla="val 7407"/>
            </a:avLst>
          </a:prstGeom>
          <a:solidFill>
            <a:schemeClr val="bg2"/>
          </a:solidFill>
          <a:ln/>
        </p:spPr>
      </p:sp>
      <p:sp>
        <p:nvSpPr>
          <p:cNvPr id="16" name="Shape 14"/>
          <p:cNvSpPr/>
          <p:nvPr/>
        </p:nvSpPr>
        <p:spPr>
          <a:xfrm>
            <a:off x="457200" y="1481328"/>
            <a:ext cx="2514600" cy="987552"/>
          </a:xfrm>
          <a:prstGeom prst="roundRect">
            <a:avLst>
              <a:gd name="adj" fmla="val 7407"/>
            </a:avLst>
          </a:prstGeom>
          <a:solidFill>
            <a:schemeClr val="tx1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603504" y="1481328"/>
            <a:ext cx="2240280" cy="9875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Standard format data extraction</a:t>
            </a:r>
            <a:endParaRPr lang="en-US" sz="1300" dirty="0"/>
          </a:p>
        </p:txBody>
      </p:sp>
      <p:sp>
        <p:nvSpPr>
          <p:cNvPr id="18" name="Text 16"/>
          <p:cNvSpPr txBox="1"/>
          <p:nvPr/>
        </p:nvSpPr>
        <p:spPr>
          <a:xfrm>
            <a:off x="3200400" y="1517904"/>
            <a:ext cx="5029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chemeClr val="tx1"/>
                </a:solidFill>
              </a:rPr>
              <a:t>Identify confidence score calculation rules (standard formats)</a:t>
            </a:r>
            <a:endParaRPr lang="en-US" sz="1250" dirty="0"/>
          </a:p>
        </p:txBody>
      </p:sp>
      <p:sp>
        <p:nvSpPr>
          <p:cNvPr id="19" name="Text 17"/>
          <p:cNvSpPr txBox="1"/>
          <p:nvPr/>
        </p:nvSpPr>
        <p:spPr>
          <a:xfrm>
            <a:off x="8275320" y="1517904"/>
            <a:ext cx="822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chemeClr val="accent6"/>
                </a:solidFill>
              </a:rPr>
              <a:t>XXXX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9619488" y="1627632"/>
            <a:ext cx="237744" cy="237744"/>
          </a:xfrm>
          <a:prstGeom prst="ellipse">
            <a:avLst/>
          </a:prstGeom>
          <a:solidFill>
            <a:srgbClr val="2E9E44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10442448" y="1627632"/>
            <a:ext cx="237744" cy="237744"/>
          </a:xfrm>
          <a:prstGeom prst="ellipse">
            <a:avLst/>
          </a:prstGeom>
          <a:solidFill>
            <a:srgbClr val="2E9E44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11265408" y="1627632"/>
            <a:ext cx="237744" cy="237744"/>
          </a:xfrm>
          <a:prstGeom prst="ellipse">
            <a:avLst/>
          </a:prstGeom>
          <a:solidFill>
            <a:srgbClr val="D64545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3154680" y="1975104"/>
            <a:ext cx="8458200" cy="0"/>
          </a:xfrm>
          <a:prstGeom prst="line">
            <a:avLst/>
          </a:prstGeom>
          <a:noFill/>
          <a:ln w="9525">
            <a:solidFill>
              <a:srgbClr val="D5DDE8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3200400" y="1975104"/>
            <a:ext cx="5029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chemeClr val="tx1"/>
                </a:solidFill>
              </a:rPr>
              <a:t>Extract the data from native &amp; standard PDFs</a:t>
            </a:r>
            <a:endParaRPr lang="en-US" sz="1250" dirty="0"/>
          </a:p>
        </p:txBody>
      </p:sp>
      <p:sp>
        <p:nvSpPr>
          <p:cNvPr id="25" name="Text 23"/>
          <p:cNvSpPr txBox="1"/>
          <p:nvPr/>
        </p:nvSpPr>
        <p:spPr>
          <a:xfrm>
            <a:off x="8275320" y="1975104"/>
            <a:ext cx="822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chemeClr val="accent6"/>
                </a:solidFill>
              </a:rPr>
              <a:t>XXXX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9619488" y="2084832"/>
            <a:ext cx="237744" cy="237744"/>
          </a:xfrm>
          <a:prstGeom prst="ellipse">
            <a:avLst/>
          </a:prstGeom>
          <a:solidFill>
            <a:srgbClr val="2E9E44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10442448" y="2084832"/>
            <a:ext cx="237744" cy="237744"/>
          </a:xfrm>
          <a:prstGeom prst="ellipse">
            <a:avLst/>
          </a:prstGeom>
          <a:solidFill>
            <a:srgbClr val="2E9E44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11265408" y="2084832"/>
            <a:ext cx="237744" cy="237744"/>
          </a:xfrm>
          <a:prstGeom prst="ellipse">
            <a:avLst/>
          </a:prstGeom>
          <a:solidFill>
            <a:srgbClr val="D64545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457200" y="2578608"/>
            <a:ext cx="11274552" cy="987552"/>
          </a:xfrm>
          <a:prstGeom prst="roundRect">
            <a:avLst>
              <a:gd name="adj" fmla="val 7407"/>
            </a:avLst>
          </a:prstGeom>
          <a:solidFill>
            <a:schemeClr val="bg2"/>
          </a:solidFill>
          <a:ln/>
        </p:spPr>
      </p:sp>
      <p:sp>
        <p:nvSpPr>
          <p:cNvPr id="30" name="Shape 28"/>
          <p:cNvSpPr/>
          <p:nvPr/>
        </p:nvSpPr>
        <p:spPr>
          <a:xfrm>
            <a:off x="457200" y="2578608"/>
            <a:ext cx="2514600" cy="987552"/>
          </a:xfrm>
          <a:prstGeom prst="roundRect">
            <a:avLst>
              <a:gd name="adj" fmla="val 7407"/>
            </a:avLst>
          </a:prstGeom>
          <a:solidFill>
            <a:schemeClr val="tx1"/>
          </a:solidFill>
          <a:ln/>
        </p:spPr>
      </p:sp>
      <p:sp>
        <p:nvSpPr>
          <p:cNvPr id="31" name="Text 29"/>
          <p:cNvSpPr txBox="1"/>
          <p:nvPr/>
        </p:nvSpPr>
        <p:spPr>
          <a:xfrm>
            <a:off x="603504" y="2578608"/>
            <a:ext cx="2240280" cy="9875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Free format data extraction</a:t>
            </a:r>
            <a:endParaRPr lang="en-US" sz="1300" dirty="0"/>
          </a:p>
        </p:txBody>
      </p:sp>
      <p:sp>
        <p:nvSpPr>
          <p:cNvPr id="32" name="Text 30"/>
          <p:cNvSpPr txBox="1"/>
          <p:nvPr/>
        </p:nvSpPr>
        <p:spPr>
          <a:xfrm>
            <a:off x="3200400" y="2615184"/>
            <a:ext cx="5029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chemeClr val="tx1"/>
                </a:solidFill>
              </a:rPr>
              <a:t>Identify the sections to be extracted (free formats)</a:t>
            </a:r>
            <a:endParaRPr lang="en-US" sz="1250" dirty="0"/>
          </a:p>
        </p:txBody>
      </p:sp>
      <p:sp>
        <p:nvSpPr>
          <p:cNvPr id="33" name="Text 31"/>
          <p:cNvSpPr txBox="1"/>
          <p:nvPr/>
        </p:nvSpPr>
        <p:spPr>
          <a:xfrm>
            <a:off x="8275320" y="2615184"/>
            <a:ext cx="822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chemeClr val="accent6"/>
                </a:solidFill>
              </a:rPr>
              <a:t>XXXX</a:t>
            </a:r>
            <a:endParaRPr lang="en-US" sz="1100" dirty="0"/>
          </a:p>
        </p:txBody>
      </p:sp>
      <p:sp>
        <p:nvSpPr>
          <p:cNvPr id="34" name="Shape 32"/>
          <p:cNvSpPr/>
          <p:nvPr/>
        </p:nvSpPr>
        <p:spPr>
          <a:xfrm>
            <a:off x="9619488" y="2724912"/>
            <a:ext cx="237744" cy="237744"/>
          </a:xfrm>
          <a:prstGeom prst="ellipse">
            <a:avLst/>
          </a:prstGeom>
          <a:solidFill>
            <a:srgbClr val="2E9E44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10442448" y="2724912"/>
            <a:ext cx="237744" cy="237744"/>
          </a:xfrm>
          <a:prstGeom prst="ellipse">
            <a:avLst/>
          </a:prstGeom>
          <a:solidFill>
            <a:srgbClr val="2E9E44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11265408" y="2724912"/>
            <a:ext cx="237744" cy="237744"/>
          </a:xfrm>
          <a:prstGeom prst="ellipse">
            <a:avLst/>
          </a:prstGeom>
          <a:solidFill>
            <a:srgbClr val="D64545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3154680" y="3072384"/>
            <a:ext cx="8458200" cy="0"/>
          </a:xfrm>
          <a:prstGeom prst="line">
            <a:avLst/>
          </a:prstGeom>
          <a:noFill/>
          <a:ln w="9525">
            <a:solidFill>
              <a:srgbClr val="D5DDE8"/>
            </a:solidFill>
            <a:prstDash val="solid"/>
          </a:ln>
        </p:spPr>
      </p:sp>
      <p:sp>
        <p:nvSpPr>
          <p:cNvPr id="38" name="Text 36"/>
          <p:cNvSpPr txBox="1"/>
          <p:nvPr/>
        </p:nvSpPr>
        <p:spPr>
          <a:xfrm>
            <a:off x="3200400" y="3072384"/>
            <a:ext cx="5029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chemeClr val="tx1"/>
                </a:solidFill>
              </a:rPr>
              <a:t>Identify confidence score calculation rules (free formats)</a:t>
            </a:r>
            <a:endParaRPr lang="en-US" sz="1250" dirty="0"/>
          </a:p>
        </p:txBody>
      </p:sp>
      <p:sp>
        <p:nvSpPr>
          <p:cNvPr id="39" name="Text 37"/>
          <p:cNvSpPr txBox="1"/>
          <p:nvPr/>
        </p:nvSpPr>
        <p:spPr>
          <a:xfrm>
            <a:off x="8275320" y="3072384"/>
            <a:ext cx="822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chemeClr val="accent6"/>
                </a:solidFill>
              </a:rPr>
              <a:t>XXXX</a:t>
            </a:r>
            <a:endParaRPr lang="en-US" sz="1100" dirty="0"/>
          </a:p>
        </p:txBody>
      </p:sp>
      <p:sp>
        <p:nvSpPr>
          <p:cNvPr id="40" name="Shape 38"/>
          <p:cNvSpPr/>
          <p:nvPr/>
        </p:nvSpPr>
        <p:spPr>
          <a:xfrm>
            <a:off x="9619488" y="3182112"/>
            <a:ext cx="237744" cy="237744"/>
          </a:xfrm>
          <a:prstGeom prst="ellipse">
            <a:avLst/>
          </a:prstGeom>
          <a:solidFill>
            <a:srgbClr val="2E9E44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10442448" y="3182112"/>
            <a:ext cx="237744" cy="237744"/>
          </a:xfrm>
          <a:prstGeom prst="ellipse">
            <a:avLst/>
          </a:prstGeom>
          <a:solidFill>
            <a:srgbClr val="2E9E44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11265408" y="3182112"/>
            <a:ext cx="237744" cy="237744"/>
          </a:xfrm>
          <a:prstGeom prst="ellipse">
            <a:avLst/>
          </a:prstGeom>
          <a:solidFill>
            <a:srgbClr val="D64545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457200" y="3675888"/>
            <a:ext cx="11274552" cy="1444752"/>
          </a:xfrm>
          <a:prstGeom prst="roundRect">
            <a:avLst>
              <a:gd name="adj" fmla="val 5063"/>
            </a:avLst>
          </a:prstGeom>
          <a:solidFill>
            <a:schemeClr val="bg2"/>
          </a:solidFill>
          <a:ln/>
        </p:spPr>
      </p:sp>
      <p:sp>
        <p:nvSpPr>
          <p:cNvPr id="44" name="Shape 42"/>
          <p:cNvSpPr/>
          <p:nvPr/>
        </p:nvSpPr>
        <p:spPr>
          <a:xfrm>
            <a:off x="457200" y="3675888"/>
            <a:ext cx="2514600" cy="1444752"/>
          </a:xfrm>
          <a:prstGeom prst="roundRect">
            <a:avLst>
              <a:gd name="adj" fmla="val 5063"/>
            </a:avLst>
          </a:prstGeom>
          <a:solidFill>
            <a:schemeClr val="tx1"/>
          </a:solidFill>
          <a:ln/>
        </p:spPr>
      </p:sp>
      <p:sp>
        <p:nvSpPr>
          <p:cNvPr id="45" name="Text 43"/>
          <p:cNvSpPr txBox="1"/>
          <p:nvPr/>
        </p:nvSpPr>
        <p:spPr>
          <a:xfrm>
            <a:off x="603504" y="3675888"/>
            <a:ext cx="2240280" cy="1444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Post extraction treatment</a:t>
            </a:r>
            <a:endParaRPr lang="en-US" sz="1300" dirty="0"/>
          </a:p>
        </p:txBody>
      </p:sp>
      <p:sp>
        <p:nvSpPr>
          <p:cNvPr id="46" name="Text 44"/>
          <p:cNvSpPr txBox="1"/>
          <p:nvPr/>
        </p:nvSpPr>
        <p:spPr>
          <a:xfrm>
            <a:off x="3200400" y="3712464"/>
            <a:ext cx="5029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chemeClr val="tx1"/>
                </a:solidFill>
              </a:rPr>
              <a:t>Transformation rules of 2144 &amp; 2139</a:t>
            </a:r>
            <a:endParaRPr lang="en-US" sz="1250" dirty="0"/>
          </a:p>
        </p:txBody>
      </p:sp>
      <p:sp>
        <p:nvSpPr>
          <p:cNvPr id="47" name="Text 45"/>
          <p:cNvSpPr txBox="1"/>
          <p:nvPr/>
        </p:nvSpPr>
        <p:spPr>
          <a:xfrm>
            <a:off x="8275320" y="3712464"/>
            <a:ext cx="822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chemeClr val="accent6"/>
                </a:solidFill>
              </a:rPr>
              <a:t>XXXX</a:t>
            </a:r>
            <a:endParaRPr lang="en-US" sz="1100" dirty="0"/>
          </a:p>
        </p:txBody>
      </p:sp>
      <p:sp>
        <p:nvSpPr>
          <p:cNvPr id="48" name="Shape 46"/>
          <p:cNvSpPr/>
          <p:nvPr/>
        </p:nvSpPr>
        <p:spPr>
          <a:xfrm>
            <a:off x="9619488" y="3822192"/>
            <a:ext cx="237744" cy="237744"/>
          </a:xfrm>
          <a:prstGeom prst="ellipse">
            <a:avLst/>
          </a:prstGeom>
          <a:solidFill>
            <a:srgbClr val="2E9E44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49" name="Shape 47"/>
          <p:cNvSpPr/>
          <p:nvPr/>
        </p:nvSpPr>
        <p:spPr>
          <a:xfrm>
            <a:off x="10442448" y="3822192"/>
            <a:ext cx="237744" cy="237744"/>
          </a:xfrm>
          <a:prstGeom prst="ellipse">
            <a:avLst/>
          </a:prstGeom>
          <a:solidFill>
            <a:srgbClr val="2E9E44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50" name="Shape 48"/>
          <p:cNvSpPr/>
          <p:nvPr/>
        </p:nvSpPr>
        <p:spPr>
          <a:xfrm>
            <a:off x="11265408" y="3822192"/>
            <a:ext cx="237744" cy="237744"/>
          </a:xfrm>
          <a:prstGeom prst="ellipse">
            <a:avLst/>
          </a:prstGeom>
          <a:solidFill>
            <a:srgbClr val="D64545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51" name="Shape 49"/>
          <p:cNvSpPr/>
          <p:nvPr/>
        </p:nvSpPr>
        <p:spPr>
          <a:xfrm>
            <a:off x="3154680" y="4169664"/>
            <a:ext cx="8458200" cy="0"/>
          </a:xfrm>
          <a:prstGeom prst="line">
            <a:avLst/>
          </a:prstGeom>
          <a:noFill/>
          <a:ln w="9525">
            <a:solidFill>
              <a:srgbClr val="D5DDE8"/>
            </a:solidFill>
            <a:prstDash val="solid"/>
          </a:ln>
        </p:spPr>
      </p:sp>
      <p:sp>
        <p:nvSpPr>
          <p:cNvPr id="52" name="Text 50"/>
          <p:cNvSpPr txBox="1"/>
          <p:nvPr/>
        </p:nvSpPr>
        <p:spPr>
          <a:xfrm>
            <a:off x="3200400" y="4169664"/>
            <a:ext cx="5029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chemeClr val="tx1"/>
                </a:solidFill>
              </a:rPr>
              <a:t>Define the storage steps and database objects</a:t>
            </a:r>
            <a:endParaRPr lang="en-US" sz="1250" dirty="0"/>
          </a:p>
        </p:txBody>
      </p:sp>
      <p:sp>
        <p:nvSpPr>
          <p:cNvPr id="53" name="Text 51"/>
          <p:cNvSpPr txBox="1"/>
          <p:nvPr/>
        </p:nvSpPr>
        <p:spPr>
          <a:xfrm>
            <a:off x="8275320" y="4169664"/>
            <a:ext cx="822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chemeClr val="accent6"/>
                </a:solidFill>
              </a:rPr>
              <a:t>XXXX</a:t>
            </a:r>
            <a:endParaRPr lang="en-US" sz="1100" dirty="0"/>
          </a:p>
        </p:txBody>
      </p:sp>
      <p:sp>
        <p:nvSpPr>
          <p:cNvPr id="54" name="Shape 52"/>
          <p:cNvSpPr/>
          <p:nvPr/>
        </p:nvSpPr>
        <p:spPr>
          <a:xfrm>
            <a:off x="9619488" y="4279392"/>
            <a:ext cx="237744" cy="237744"/>
          </a:xfrm>
          <a:prstGeom prst="ellipse">
            <a:avLst/>
          </a:prstGeom>
          <a:solidFill>
            <a:srgbClr val="2E9E44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55" name="Shape 53"/>
          <p:cNvSpPr/>
          <p:nvPr/>
        </p:nvSpPr>
        <p:spPr>
          <a:xfrm>
            <a:off x="10442448" y="4279392"/>
            <a:ext cx="237744" cy="237744"/>
          </a:xfrm>
          <a:prstGeom prst="ellipse">
            <a:avLst/>
          </a:prstGeom>
          <a:solidFill>
            <a:srgbClr val="2E9E44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56" name="Shape 54"/>
          <p:cNvSpPr/>
          <p:nvPr/>
        </p:nvSpPr>
        <p:spPr>
          <a:xfrm>
            <a:off x="11265408" y="4279392"/>
            <a:ext cx="237744" cy="237744"/>
          </a:xfrm>
          <a:prstGeom prst="ellipse">
            <a:avLst/>
          </a:prstGeom>
          <a:solidFill>
            <a:srgbClr val="D64545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57" name="Shape 55"/>
          <p:cNvSpPr/>
          <p:nvPr/>
        </p:nvSpPr>
        <p:spPr>
          <a:xfrm>
            <a:off x="3154680" y="4626864"/>
            <a:ext cx="8458200" cy="0"/>
          </a:xfrm>
          <a:prstGeom prst="line">
            <a:avLst/>
          </a:prstGeom>
          <a:noFill/>
          <a:ln w="9525">
            <a:solidFill>
              <a:srgbClr val="D5DDE8"/>
            </a:solidFill>
            <a:prstDash val="solid"/>
          </a:ln>
        </p:spPr>
      </p:sp>
      <p:sp>
        <p:nvSpPr>
          <p:cNvPr id="58" name="Text 56"/>
          <p:cNvSpPr txBox="1"/>
          <p:nvPr/>
        </p:nvSpPr>
        <p:spPr>
          <a:xfrm>
            <a:off x="3200400" y="4626864"/>
            <a:ext cx="5029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chemeClr val="tx1"/>
                </a:solidFill>
              </a:rPr>
              <a:t>View the extracted data</a:t>
            </a:r>
            <a:endParaRPr lang="en-US" sz="1250" dirty="0"/>
          </a:p>
        </p:txBody>
      </p:sp>
      <p:sp>
        <p:nvSpPr>
          <p:cNvPr id="59" name="Text 57"/>
          <p:cNvSpPr txBox="1"/>
          <p:nvPr/>
        </p:nvSpPr>
        <p:spPr>
          <a:xfrm>
            <a:off x="8275320" y="4626864"/>
            <a:ext cx="822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chemeClr val="accent6"/>
                </a:solidFill>
              </a:rPr>
              <a:t>XXXX</a:t>
            </a:r>
            <a:endParaRPr lang="en-US" sz="1100" dirty="0"/>
          </a:p>
        </p:txBody>
      </p:sp>
      <p:sp>
        <p:nvSpPr>
          <p:cNvPr id="60" name="Shape 58"/>
          <p:cNvSpPr/>
          <p:nvPr/>
        </p:nvSpPr>
        <p:spPr>
          <a:xfrm>
            <a:off x="9619488" y="4736592"/>
            <a:ext cx="237744" cy="237744"/>
          </a:xfrm>
          <a:prstGeom prst="ellipse">
            <a:avLst/>
          </a:prstGeom>
          <a:solidFill>
            <a:srgbClr val="2E9E44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61" name="Shape 59"/>
          <p:cNvSpPr/>
          <p:nvPr/>
        </p:nvSpPr>
        <p:spPr>
          <a:xfrm>
            <a:off x="10442448" y="4736592"/>
            <a:ext cx="237744" cy="237744"/>
          </a:xfrm>
          <a:prstGeom prst="ellipse">
            <a:avLst/>
          </a:prstGeom>
          <a:solidFill>
            <a:srgbClr val="2E9E44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62" name="Shape 60"/>
          <p:cNvSpPr/>
          <p:nvPr/>
        </p:nvSpPr>
        <p:spPr>
          <a:xfrm>
            <a:off x="11265408" y="4736592"/>
            <a:ext cx="237744" cy="237744"/>
          </a:xfrm>
          <a:prstGeom prst="ellipse">
            <a:avLst/>
          </a:prstGeom>
          <a:solidFill>
            <a:srgbClr val="D64545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63" name="Shape 61"/>
          <p:cNvSpPr/>
          <p:nvPr/>
        </p:nvSpPr>
        <p:spPr>
          <a:xfrm>
            <a:off x="457200" y="5230368"/>
            <a:ext cx="11274552" cy="530352"/>
          </a:xfrm>
          <a:prstGeom prst="roundRect">
            <a:avLst>
              <a:gd name="adj" fmla="val 13793"/>
            </a:avLst>
          </a:prstGeom>
          <a:solidFill>
            <a:schemeClr val="bg2"/>
          </a:solidFill>
          <a:ln/>
        </p:spPr>
      </p:sp>
      <p:sp>
        <p:nvSpPr>
          <p:cNvPr id="64" name="Shape 62"/>
          <p:cNvSpPr/>
          <p:nvPr/>
        </p:nvSpPr>
        <p:spPr>
          <a:xfrm>
            <a:off x="457200" y="5230368"/>
            <a:ext cx="2514600" cy="530352"/>
          </a:xfrm>
          <a:prstGeom prst="roundRect">
            <a:avLst>
              <a:gd name="adj" fmla="val 13793"/>
            </a:avLst>
          </a:prstGeom>
          <a:solidFill>
            <a:schemeClr val="tx1"/>
          </a:solidFill>
          <a:ln/>
        </p:spPr>
      </p:sp>
      <p:sp>
        <p:nvSpPr>
          <p:cNvPr id="65" name="Text 63"/>
          <p:cNvSpPr txBox="1"/>
          <p:nvPr/>
        </p:nvSpPr>
        <p:spPr>
          <a:xfrm>
            <a:off x="603504" y="5230368"/>
            <a:ext cx="22402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chemeClr val="bg1"/>
                </a:solidFill>
              </a:rPr>
              <a:t>Extraction log &amp; reporting</a:t>
            </a:r>
            <a:endParaRPr lang="en-US" sz="1100" dirty="0"/>
          </a:p>
        </p:txBody>
      </p:sp>
      <p:sp>
        <p:nvSpPr>
          <p:cNvPr id="66" name="Text 64"/>
          <p:cNvSpPr txBox="1"/>
          <p:nvPr/>
        </p:nvSpPr>
        <p:spPr>
          <a:xfrm>
            <a:off x="3200400" y="5266944"/>
            <a:ext cx="5029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chemeClr val="tx1"/>
                </a:solidFill>
              </a:rPr>
              <a:t>Extraction log &amp; reporting (scope to be defined)</a:t>
            </a:r>
            <a:endParaRPr lang="en-US" sz="1250" dirty="0"/>
          </a:p>
        </p:txBody>
      </p:sp>
      <p:sp>
        <p:nvSpPr>
          <p:cNvPr id="67" name="Text 65"/>
          <p:cNvSpPr txBox="1"/>
          <p:nvPr/>
        </p:nvSpPr>
        <p:spPr>
          <a:xfrm>
            <a:off x="8275320" y="5266944"/>
            <a:ext cx="822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chemeClr val="accent6"/>
                </a:solidFill>
              </a:rPr>
              <a:t>XXXX</a:t>
            </a:r>
            <a:endParaRPr lang="en-US" sz="1100" dirty="0"/>
          </a:p>
        </p:txBody>
      </p:sp>
      <p:sp>
        <p:nvSpPr>
          <p:cNvPr id="68" name="Shape 66"/>
          <p:cNvSpPr/>
          <p:nvPr/>
        </p:nvSpPr>
        <p:spPr>
          <a:xfrm>
            <a:off x="9619488" y="5376672"/>
            <a:ext cx="237744" cy="237744"/>
          </a:xfrm>
          <a:prstGeom prst="ellipse">
            <a:avLst/>
          </a:prstGeom>
          <a:solidFill>
            <a:srgbClr val="D64545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69" name="Shape 67"/>
          <p:cNvSpPr/>
          <p:nvPr/>
        </p:nvSpPr>
        <p:spPr>
          <a:xfrm>
            <a:off x="10442448" y="5376672"/>
            <a:ext cx="237744" cy="237744"/>
          </a:xfrm>
          <a:prstGeom prst="ellipse">
            <a:avLst/>
          </a:prstGeom>
          <a:solidFill>
            <a:srgbClr val="D64545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70" name="Shape 68"/>
          <p:cNvSpPr/>
          <p:nvPr/>
        </p:nvSpPr>
        <p:spPr>
          <a:xfrm>
            <a:off x="11265408" y="5376672"/>
            <a:ext cx="237744" cy="237744"/>
          </a:xfrm>
          <a:prstGeom prst="ellipse">
            <a:avLst/>
          </a:prstGeom>
          <a:solidFill>
            <a:srgbClr val="D64545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74552" y="6473952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320040"/>
            <a:ext cx="112471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1"/>
                </a:solidFill>
              </a:rPr>
              <a:t>Points of attention and next steps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457200" y="1371600"/>
            <a:ext cx="3611880" cy="4023360"/>
          </a:xfrm>
          <a:prstGeom prst="roundRect">
            <a:avLst>
              <a:gd name="adj" fmla="val 2532"/>
            </a:avLst>
          </a:prstGeom>
          <a:solidFill>
            <a:schemeClr val="bg2"/>
          </a:solidFill>
          <a:ln/>
        </p:spPr>
      </p:sp>
      <p:sp>
        <p:nvSpPr>
          <p:cNvPr id="4" name="Shape 2"/>
          <p:cNvSpPr/>
          <p:nvPr/>
        </p:nvSpPr>
        <p:spPr>
          <a:xfrm>
            <a:off x="731520" y="1645920"/>
            <a:ext cx="457200" cy="457200"/>
          </a:xfrm>
          <a:prstGeom prst="ellipse">
            <a:avLst/>
          </a:prstGeom>
          <a:solidFill>
            <a:srgbClr val="F2A33A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731520" y="16459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1</a:t>
            </a:r>
            <a:endParaRPr lang="en-US" sz="1600" dirty="0"/>
          </a:p>
        </p:txBody>
      </p:sp>
      <p:sp>
        <p:nvSpPr>
          <p:cNvPr id="6" name="Text 4"/>
          <p:cNvSpPr txBox="1"/>
          <p:nvPr/>
        </p:nvSpPr>
        <p:spPr>
          <a:xfrm>
            <a:off x="1325880" y="1645920"/>
            <a:ext cx="2560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chemeClr val="tx1"/>
                </a:solidFill>
              </a:rPr>
              <a:t>Points of attention</a:t>
            </a:r>
            <a:endParaRPr lang="en-US" sz="2000" dirty="0"/>
          </a:p>
        </p:txBody>
      </p:sp>
      <p:sp>
        <p:nvSpPr>
          <p:cNvPr id="7" name="Text 5"/>
          <p:cNvSpPr txBox="1"/>
          <p:nvPr/>
        </p:nvSpPr>
        <p:spPr>
          <a:xfrm>
            <a:off x="731520" y="2377440"/>
            <a:ext cx="3108960" cy="2834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chemeClr val="tx2"/>
                </a:solidFill>
              </a:rPr>
              <a:t>ABBY: development not started on APIGEE token and document sending</a:t>
            </a:r>
            <a:endParaRPr lang="en-US" sz="15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chemeClr val="tx2"/>
                </a:solidFill>
              </a:rPr>
              <a:t>Get financial extraction result: development in progress</a:t>
            </a:r>
            <a:endParaRPr lang="en-US" sz="15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chemeClr val="tx2"/>
                </a:solidFill>
              </a:rPr>
              <a:t>Extraction log &amp; reporting: not yet specified</a:t>
            </a:r>
            <a:endParaRPr lang="en-US" sz="15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chemeClr val="tx2"/>
                </a:solidFill>
              </a:rPr>
              <a:t>Testing: 32 of 36 items not started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4288536" y="1371600"/>
            <a:ext cx="3611880" cy="4023360"/>
          </a:xfrm>
          <a:prstGeom prst="roundRect">
            <a:avLst>
              <a:gd name="adj" fmla="val 2532"/>
            </a:avLst>
          </a:prstGeom>
          <a:solidFill>
            <a:schemeClr val="bg2"/>
          </a:solidFill>
          <a:ln/>
        </p:spPr>
      </p:sp>
      <p:sp>
        <p:nvSpPr>
          <p:cNvPr id="9" name="Shape 7"/>
          <p:cNvSpPr/>
          <p:nvPr/>
        </p:nvSpPr>
        <p:spPr>
          <a:xfrm>
            <a:off x="4562856" y="1645920"/>
            <a:ext cx="457200" cy="457200"/>
          </a:xfrm>
          <a:prstGeom prst="ellipse">
            <a:avLst/>
          </a:prstGeom>
          <a:solidFill>
            <a:srgbClr val="2E9E44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4562856" y="16459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2</a:t>
            </a:r>
            <a:endParaRPr lang="en-US" sz="1600" dirty="0"/>
          </a:p>
        </p:txBody>
      </p:sp>
      <p:sp>
        <p:nvSpPr>
          <p:cNvPr id="11" name="Text 9"/>
          <p:cNvSpPr txBox="1"/>
          <p:nvPr/>
        </p:nvSpPr>
        <p:spPr>
          <a:xfrm>
            <a:off x="5157216" y="1645920"/>
            <a:ext cx="2560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chemeClr val="tx1"/>
                </a:solidFill>
              </a:rPr>
              <a:t>Achievements</a:t>
            </a:r>
            <a:endParaRPr lang="en-US" sz="2000" dirty="0"/>
          </a:p>
        </p:txBody>
      </p:sp>
      <p:sp>
        <p:nvSpPr>
          <p:cNvPr id="12" name="Text 10"/>
          <p:cNvSpPr txBox="1"/>
          <p:nvPr/>
        </p:nvSpPr>
        <p:spPr>
          <a:xfrm>
            <a:off x="4562856" y="2377440"/>
            <a:ext cx="3108960" cy="2834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chemeClr val="tx2"/>
                </a:solidFill>
              </a:rPr>
              <a:t>Requirements specified for 34 of 36 items</a:t>
            </a:r>
            <a:endParaRPr lang="en-US" sz="15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chemeClr val="tx2"/>
                </a:solidFill>
              </a:rPr>
              <a:t>Development completed for 31 items</a:t>
            </a:r>
            <a:endParaRPr lang="en-US" sz="15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chemeClr val="tx2"/>
                </a:solidFill>
              </a:rPr>
              <a:t>Fully tested: users &amp; roles access, Algo API, database structure</a:t>
            </a:r>
            <a:endParaRPr lang="en-US" sz="1500" dirty="0"/>
          </a:p>
        </p:txBody>
      </p:sp>
      <p:sp>
        <p:nvSpPr>
          <p:cNvPr id="13" name="Shape 11"/>
          <p:cNvSpPr/>
          <p:nvPr/>
        </p:nvSpPr>
        <p:spPr>
          <a:xfrm>
            <a:off x="8119872" y="1371600"/>
            <a:ext cx="3611880" cy="4023360"/>
          </a:xfrm>
          <a:prstGeom prst="roundRect">
            <a:avLst>
              <a:gd name="adj" fmla="val 2532"/>
            </a:avLst>
          </a:prstGeom>
          <a:solidFill>
            <a:schemeClr val="bg2"/>
          </a:solidFill>
          <a:ln/>
        </p:spPr>
      </p:sp>
      <p:sp>
        <p:nvSpPr>
          <p:cNvPr id="14" name="Shape 12"/>
          <p:cNvSpPr/>
          <p:nvPr/>
        </p:nvSpPr>
        <p:spPr>
          <a:xfrm>
            <a:off x="8394192" y="1645920"/>
            <a:ext cx="457200" cy="457200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8394192" y="16459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3</a:t>
            </a:r>
            <a:endParaRPr lang="en-US" sz="1600" dirty="0"/>
          </a:p>
        </p:txBody>
      </p:sp>
      <p:sp>
        <p:nvSpPr>
          <p:cNvPr id="16" name="Text 14"/>
          <p:cNvSpPr txBox="1"/>
          <p:nvPr/>
        </p:nvSpPr>
        <p:spPr>
          <a:xfrm>
            <a:off x="8988552" y="1645920"/>
            <a:ext cx="2560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chemeClr val="tx1"/>
                </a:solidFill>
              </a:rPr>
              <a:t>Next steps</a:t>
            </a:r>
            <a:endParaRPr lang="en-US" sz="2000" dirty="0"/>
          </a:p>
        </p:txBody>
      </p:sp>
      <p:sp>
        <p:nvSpPr>
          <p:cNvPr id="17" name="Text 15"/>
          <p:cNvSpPr txBox="1"/>
          <p:nvPr/>
        </p:nvSpPr>
        <p:spPr>
          <a:xfrm>
            <a:off x="8394192" y="2377440"/>
            <a:ext cx="3108960" cy="2834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chemeClr val="tx2"/>
                </a:solidFill>
              </a:rPr>
              <a:t>Complete ABBY development (token, sending, extraction result)</a:t>
            </a:r>
            <a:endParaRPr lang="en-US" sz="15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chemeClr val="tx2"/>
                </a:solidFill>
              </a:rPr>
              <a:t>Launch test campaign on Finstar, preprocessing and extraction items</a:t>
            </a:r>
            <a:endParaRPr lang="en-US" sz="15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chemeClr val="tx2"/>
                </a:solidFill>
              </a:rPr>
              <a:t>Specify the extraction log &amp; reporting scope</a:t>
            </a:r>
            <a:endParaRPr lang="en-US" sz="15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chemeClr val="tx2"/>
                </a:solidFill>
              </a:rPr>
              <a:t>Fill in the Jira references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74552" y="6473952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SteerCo">
  <a:themeElements>
    <a:clrScheme name="SteerCo">
      <a:dk1>
        <a:srgbClr val="1B2A41"/>
      </a:dk1>
      <a:lt1>
        <a:srgbClr val="FFFFFF"/>
      </a:lt1>
      <a:dk2>
        <a:srgbClr val="324A6D"/>
      </a:dk2>
      <a:lt2>
        <a:srgbClr val="EEF2F7"/>
      </a:lt2>
      <a:accent1>
        <a:srgbClr val="0E7C86"/>
      </a:accent1>
      <a:accent2>
        <a:srgbClr val="2E9E44"/>
      </a:accent2>
      <a:accent3>
        <a:srgbClr val="F2A33A"/>
      </a:accent3>
      <a:accent4>
        <a:srgbClr val="D64545"/>
      </a:accent4>
      <a:accent5>
        <a:srgbClr val="8FA3BF"/>
      </a:accent5>
      <a:accent6>
        <a:srgbClr val="5B6B82"/>
      </a:accent6>
      <a:hlink>
        <a:srgbClr val="0E7C86"/>
      </a:hlink>
      <a:folHlink>
        <a:srgbClr val="5B6B82"/>
      </a:folHlink>
    </a:clrScheme>
    <a:fontScheme name="SteerCo">
      <a:majorFont>
        <a:latin typeface="Calibri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Steering Committee - DataCapture</dc:title>
  <dc:subject>PptxGenJS Presentation</dc:subject>
  <dc:creator>PptxGenJS</dc:creator>
  <cp:lastModifiedBy>PptxGenJS</cp:lastModifiedBy>
  <cp:revision>1</cp:revision>
  <dcterms:created xsi:type="dcterms:W3CDTF">2026-10-25T20:52:47Z</dcterms:created>
  <dcterms:modified xsi:type="dcterms:W3CDTF">2026-10-25T20:52:47Z</dcterms:modified>
</cp:coreProperties>
</file>